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1599525" cy="32399288"/>
  <p:notesSz cx="32399288" cy="215995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392" y="-1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4629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a_wide_shallow_depth_of_field_lab_engineering_wor_batch_1.png"/>
          <p:cNvPicPr>
            <a:picLocks noChangeAspect="1"/>
          </p:cNvPicPr>
          <p:nvPr/>
        </p:nvPicPr>
        <p:blipFill>
          <a:blip r:embed="rId3"/>
          <a:srcRect l="4000" t="16000" r="45777" b="32000"/>
          <a:stretch/>
        </p:blipFill>
        <p:spPr>
          <a:xfrm>
            <a:off x="0" y="0"/>
            <a:ext cx="5399989" cy="2395728"/>
          </a:xfrm>
          <a:prstGeom prst="rect">
            <a:avLst/>
          </a:prstGeom>
        </p:spPr>
      </p:pic>
      <p:pic>
        <p:nvPicPr>
          <p:cNvPr id="3" name="Image 1" descr="/mnt/data/a_clean_studio_like_cad_rendering_technical_illu_batch_2.png"/>
          <p:cNvPicPr>
            <a:picLocks noChangeAspect="1"/>
          </p:cNvPicPr>
          <p:nvPr/>
        </p:nvPicPr>
        <p:blipFill>
          <a:blip r:embed="rId4"/>
          <a:srcRect l="19000" t="26000" r="17572" b="24000"/>
          <a:stretch/>
        </p:blipFill>
        <p:spPr>
          <a:xfrm>
            <a:off x="5399989" y="0"/>
            <a:ext cx="5399989" cy="2395728"/>
          </a:xfrm>
          <a:prstGeom prst="rect">
            <a:avLst/>
          </a:prstGeom>
        </p:spPr>
      </p:pic>
      <p:pic>
        <p:nvPicPr>
          <p:cNvPr id="4" name="Image 2" descr="/mnt/data/a_wide_shallow_depth_of_field_lab_engineering_wor_batch_1.png"/>
          <p:cNvPicPr>
            <a:picLocks noChangeAspect="1"/>
          </p:cNvPicPr>
          <p:nvPr/>
        </p:nvPicPr>
        <p:blipFill>
          <a:blip r:embed="rId3"/>
          <a:srcRect l="48000" t="16000" r="1777" b="32000"/>
          <a:stretch/>
        </p:blipFill>
        <p:spPr>
          <a:xfrm>
            <a:off x="10799978" y="0"/>
            <a:ext cx="5399989" cy="2395728"/>
          </a:xfrm>
          <a:prstGeom prst="rect">
            <a:avLst/>
          </a:prstGeom>
        </p:spPr>
      </p:pic>
      <p:pic>
        <p:nvPicPr>
          <p:cNvPr id="5" name="Image 3" descr="/mnt/data/a_clean_studio_like_cad_rendering_technical_illu_batch_2.png"/>
          <p:cNvPicPr>
            <a:picLocks noChangeAspect="1"/>
          </p:cNvPicPr>
          <p:nvPr/>
        </p:nvPicPr>
        <p:blipFill>
          <a:blip r:embed="rId4"/>
          <a:srcRect l="8000" t="20000" r="28572" b="30000"/>
          <a:stretch/>
        </p:blipFill>
        <p:spPr>
          <a:xfrm>
            <a:off x="16199968" y="0"/>
            <a:ext cx="5399989" cy="2395728"/>
          </a:xfrm>
          <a:prstGeom prst="rect">
            <a:avLst/>
          </a:prstGeom>
        </p:spPr>
      </p:pic>
      <p:sp>
        <p:nvSpPr>
          <p:cNvPr id="6" name="Text 0"/>
          <p:cNvSpPr/>
          <p:nvPr/>
        </p:nvSpPr>
        <p:spPr>
          <a:xfrm>
            <a:off x="1143000" y="2834640"/>
            <a:ext cx="19293840" cy="1234440"/>
          </a:xfrm>
          <a:prstGeom prst="rect">
            <a:avLst/>
          </a:prstGeom>
          <a:noFill/>
          <a:ln/>
        </p:spPr>
        <p:txBody>
          <a:bodyPr wrap="square" lIns="254" tIns="254" rIns="254" bIns="254" rtlCol="0" anchor="ctr">
            <a:noAutofit/>
          </a:bodyPr>
          <a:lstStyle/>
          <a:p>
            <a:pPr marL="0" indent="0" algn="ctr">
              <a:buNone/>
            </a:pPr>
            <a:r>
              <a:rPr lang="en-US" sz="4800" b="1" dirty="0">
                <a:solidFill>
                  <a:srgbClr val="111111"/>
                </a:solidFill>
                <a:latin typeface="Arial" pitchFamily="34" charset="0"/>
                <a:ea typeface="Arial" pitchFamily="34" charset="-122"/>
                <a:cs typeface="Arial" pitchFamily="34" charset="-120"/>
              </a:rPr>
              <a:t>Sistema de Control Ball and Beam: Modelado Matemático y Control Discreto</a:t>
            </a:r>
            <a:endParaRPr lang="en-US" sz="4800" dirty="0"/>
          </a:p>
        </p:txBody>
      </p:sp>
      <p:sp>
        <p:nvSpPr>
          <p:cNvPr id="7" name="Text 1"/>
          <p:cNvSpPr/>
          <p:nvPr/>
        </p:nvSpPr>
        <p:spPr>
          <a:xfrm>
            <a:off x="1051560" y="4389120"/>
            <a:ext cx="19476720" cy="804672"/>
          </a:xfrm>
          <a:prstGeom prst="rect">
            <a:avLst/>
          </a:prstGeom>
          <a:noFill/>
          <a:ln/>
        </p:spPr>
        <p:txBody>
          <a:bodyPr wrap="square" lIns="254" tIns="254" rIns="254" bIns="254" rtlCol="0" anchor="ctr">
            <a:normAutofit/>
          </a:bodyPr>
          <a:lstStyle/>
          <a:p>
            <a:pPr marL="0" indent="0" algn="ctr">
              <a:buNone/>
            </a:pPr>
            <a:r>
              <a:rPr lang="en-US" sz="2400" dirty="0">
                <a:solidFill>
                  <a:srgbClr val="111111"/>
                </a:solidFill>
                <a:latin typeface="Arial" pitchFamily="34" charset="0"/>
                <a:ea typeface="Arial" pitchFamily="34" charset="-122"/>
                <a:cs typeface="Arial" pitchFamily="34" charset="-120"/>
              </a:rPr>
              <a:t>Maldonado Zamudio Arith (</a:t>
            </a:r>
            <a:r>
              <a:rPr lang="en-US" sz="2400" dirty="0" err="1">
                <a:solidFill>
                  <a:srgbClr val="111111"/>
                </a:solidFill>
                <a:latin typeface="Arial" pitchFamily="34" charset="0"/>
                <a:ea typeface="Arial" pitchFamily="34" charset="-122"/>
                <a:cs typeface="Arial" pitchFamily="34" charset="-120"/>
              </a:rPr>
              <a:t>doceavo</a:t>
            </a:r>
            <a:r>
              <a:rPr lang="en-US" sz="2400" dirty="0">
                <a:solidFill>
                  <a:srgbClr val="111111"/>
                </a:solidFill>
                <a:latin typeface="Arial" pitchFamily="34" charset="0"/>
                <a:ea typeface="Arial" pitchFamily="34" charset="-122"/>
                <a:cs typeface="Arial" pitchFamily="34" charset="-120"/>
              </a:rPr>
              <a:t> semestre en Ingeniería Mecatrónica)¹,*; Abundiz Carbajal Jesús Juventino (</a:t>
            </a:r>
            <a:r>
              <a:rPr lang="en-US" sz="2400" dirty="0" err="1">
                <a:solidFill>
                  <a:srgbClr val="111111"/>
                </a:solidFill>
                <a:latin typeface="Arial" pitchFamily="34" charset="0"/>
                <a:ea typeface="Arial" pitchFamily="34" charset="-122"/>
                <a:cs typeface="Arial" pitchFamily="34" charset="-120"/>
              </a:rPr>
              <a:t>doceavo</a:t>
            </a:r>
            <a:r>
              <a:rPr lang="en-US" sz="2400" dirty="0">
                <a:solidFill>
                  <a:srgbClr val="111111"/>
                </a:solidFill>
                <a:latin typeface="Arial" pitchFamily="34" charset="0"/>
                <a:ea typeface="Arial" pitchFamily="34" charset="-122"/>
                <a:cs typeface="Arial" pitchFamily="34" charset="-120"/>
              </a:rPr>
              <a:t> semestre en Ingeniería Mecatrónica)¹; y Martínez Fuentes Oscar (profesor asesor)¹</a:t>
            </a:r>
            <a:endParaRPr lang="en-US" sz="2400" dirty="0"/>
          </a:p>
        </p:txBody>
      </p:sp>
      <p:sp>
        <p:nvSpPr>
          <p:cNvPr id="8" name="Text 2"/>
          <p:cNvSpPr/>
          <p:nvPr/>
        </p:nvSpPr>
        <p:spPr>
          <a:xfrm>
            <a:off x="1828800" y="5376672"/>
            <a:ext cx="17922240" cy="384048"/>
          </a:xfrm>
          <a:prstGeom prst="rect">
            <a:avLst/>
          </a:prstGeom>
          <a:noFill/>
          <a:ln/>
        </p:spPr>
        <p:txBody>
          <a:bodyPr wrap="square" lIns="127" tIns="127" rIns="127" bIns="127" rtlCol="0" anchor="ctr"/>
          <a:lstStyle/>
          <a:p>
            <a:pPr algn="ctr"/>
            <a:r>
              <a:rPr lang="en-US" sz="2000" i="1" dirty="0">
                <a:solidFill>
                  <a:srgbClr val="111111"/>
                </a:solidFill>
                <a:latin typeface="Arial" pitchFamily="34" charset="0"/>
                <a:ea typeface="Arial" pitchFamily="34" charset="-122"/>
                <a:cs typeface="Arial" pitchFamily="34" charset="-120"/>
              </a:rPr>
              <a:t>¹Universidad Iberoamericana Puebla, San Andrés Cholula, Puebla, México  •  *jesus.abundiz@iberopuebla.mx</a:t>
            </a:r>
            <a:endParaRPr lang="en-US" sz="2000" dirty="0"/>
          </a:p>
        </p:txBody>
      </p:sp>
      <p:sp>
        <p:nvSpPr>
          <p:cNvPr id="9" name="Shape 3"/>
          <p:cNvSpPr/>
          <p:nvPr/>
        </p:nvSpPr>
        <p:spPr>
          <a:xfrm>
            <a:off x="822960" y="6446520"/>
            <a:ext cx="7059168" cy="8275320"/>
          </a:xfrm>
          <a:prstGeom prst="rect">
            <a:avLst/>
          </a:prstGeom>
          <a:solidFill>
            <a:srgbClr val="FFFFFF">
              <a:alpha val="0"/>
            </a:srgbClr>
          </a:solidFill>
          <a:ln w="14605">
            <a:solidFill>
              <a:srgbClr val="000000"/>
            </a:solidFill>
            <a:prstDash val="solid"/>
          </a:ln>
        </p:spPr>
        <p:txBody>
          <a:bodyPr/>
          <a:lstStyle/>
          <a:p>
            <a:endParaRPr lang="es-MX" sz="4000"/>
          </a:p>
        </p:txBody>
      </p:sp>
      <p:sp>
        <p:nvSpPr>
          <p:cNvPr id="10" name="Text 4"/>
          <p:cNvSpPr/>
          <p:nvPr/>
        </p:nvSpPr>
        <p:spPr>
          <a:xfrm>
            <a:off x="1234440" y="6885432"/>
            <a:ext cx="6236208" cy="384048"/>
          </a:xfrm>
          <a:prstGeom prst="rect">
            <a:avLst/>
          </a:prstGeom>
          <a:noFill/>
          <a:ln/>
        </p:spPr>
        <p:txBody>
          <a:bodyPr wrap="square" lIns="0" tIns="0" rIns="0" bIns="0" rtlCol="0" anchor="ctr"/>
          <a:lstStyle/>
          <a:p>
            <a:pPr marL="0" indent="0">
              <a:buNone/>
            </a:pPr>
            <a:r>
              <a:rPr lang="en-US" sz="2800" b="1" dirty="0">
                <a:solidFill>
                  <a:srgbClr val="111111"/>
                </a:solidFill>
                <a:latin typeface="Arial" pitchFamily="34" charset="0"/>
                <a:ea typeface="Arial" pitchFamily="34" charset="-122"/>
                <a:cs typeface="Arial" pitchFamily="34" charset="-120"/>
              </a:rPr>
              <a:t>Introducción</a:t>
            </a:r>
            <a:endParaRPr lang="en-US" sz="2800" dirty="0"/>
          </a:p>
        </p:txBody>
      </p:sp>
      <p:sp>
        <p:nvSpPr>
          <p:cNvPr id="11" name="Text 5"/>
          <p:cNvSpPr/>
          <p:nvPr/>
        </p:nvSpPr>
        <p:spPr>
          <a:xfrm>
            <a:off x="1261872" y="7452360"/>
            <a:ext cx="6181344" cy="3154680"/>
          </a:xfrm>
          <a:prstGeom prst="rect">
            <a:avLst/>
          </a:prstGeom>
          <a:noFill/>
          <a:ln/>
        </p:spPr>
        <p:txBody>
          <a:bodyPr wrap="square" lIns="381" tIns="381" rIns="381" bIns="381" rtlCol="0" anchor="t">
            <a:normAutofit/>
          </a:bodyPr>
          <a:lstStyle/>
          <a:p>
            <a:r>
              <a:rPr lang="en-US" sz="1600" dirty="0">
                <a:solidFill>
                  <a:srgbClr val="111111"/>
                </a:solidFill>
                <a:latin typeface="Arial" pitchFamily="34" charset="0"/>
                <a:ea typeface="Arial" pitchFamily="34" charset="-122"/>
                <a:cs typeface="Arial" pitchFamily="34" charset="-120"/>
              </a:rPr>
              <a:t>El sistema Ball and Beam es un banco de pruebas clásico para ingeniería de control debido a su dinámica no lineal, subactuada e inherentemente inestable. El objetivo de control consiste en mantener una esfera en equilibrio sobre una barra articulada, cuyo ángulo se ajusta con un actuador </a:t>
            </a:r>
            <a:r>
              <a:rPr lang="en-US" sz="1600" dirty="0" err="1">
                <a:solidFill>
                  <a:srgbClr val="111111"/>
                </a:solidFill>
                <a:latin typeface="Arial" pitchFamily="34" charset="0"/>
                <a:ea typeface="Arial" pitchFamily="34" charset="-122"/>
                <a:cs typeface="Arial" pitchFamily="34" charset="-120"/>
              </a:rPr>
              <a:t>rotatorio</a:t>
            </a:r>
            <a:r>
              <a:rPr lang="en-US" sz="1600" dirty="0">
                <a:solidFill>
                  <a:srgbClr val="111111"/>
                </a:solidFill>
                <a:latin typeface="Arial" pitchFamily="34" charset="0"/>
                <a:ea typeface="Arial" pitchFamily="34" charset="-122"/>
                <a:cs typeface="Arial" pitchFamily="34" charset="-120"/>
              </a:rPr>
              <a:t>.</a:t>
            </a:r>
            <a:r>
              <a:rPr lang="es-ES" sz="1600" dirty="0">
                <a:solidFill>
                  <a:srgbClr val="111111"/>
                </a:solidFill>
                <a:latin typeface="Arial" pitchFamily="34" charset="0"/>
                <a:ea typeface="Arial" pitchFamily="34" charset="-122"/>
                <a:cs typeface="Arial" pitchFamily="34" charset="-120"/>
              </a:rPr>
              <a:t> El sistema Ball and Beam es un banco de pruebas clásico en ingeniería de control debido a que es inestable en lazo abierto, no lineal y </a:t>
            </a:r>
            <a:r>
              <a:rPr lang="es-ES" sz="1600" dirty="0" err="1">
                <a:solidFill>
                  <a:srgbClr val="111111"/>
                </a:solidFill>
                <a:latin typeface="Arial" pitchFamily="34" charset="0"/>
                <a:ea typeface="Arial" pitchFamily="34" charset="-122"/>
                <a:cs typeface="Arial" pitchFamily="34" charset="-120"/>
              </a:rPr>
              <a:t>subactuado</a:t>
            </a:r>
            <a:r>
              <a:rPr lang="es-ES" sz="1600" dirty="0">
                <a:solidFill>
                  <a:srgbClr val="111111"/>
                </a:solidFill>
                <a:latin typeface="Arial" pitchFamily="34" charset="0"/>
                <a:ea typeface="Arial" pitchFamily="34" charset="-122"/>
                <a:cs typeface="Arial" pitchFamily="34" charset="-120"/>
              </a:rPr>
              <a:t>. El problema consiste en estabilizar la posición de una bola sobre una barra mediante un controlador PID discreto, considerando retos propios de una implementación de bajo costo como el retardo de muestreo, el ruido del sensor infrarrojo, la saturación del actuador y las limitaciones del modelo linealizado.</a:t>
            </a:r>
            <a:endParaRPr lang="en-US" sz="1600" dirty="0"/>
          </a:p>
        </p:txBody>
      </p:sp>
      <p:sp>
        <p:nvSpPr>
          <p:cNvPr id="12" name="Shape 6"/>
          <p:cNvSpPr/>
          <p:nvPr/>
        </p:nvSpPr>
        <p:spPr>
          <a:xfrm>
            <a:off x="1261872" y="10607040"/>
            <a:ext cx="6181344" cy="2377440"/>
          </a:xfrm>
          <a:prstGeom prst="rect">
            <a:avLst/>
          </a:prstGeom>
          <a:solidFill>
            <a:srgbClr val="F8F8F8"/>
          </a:solidFill>
          <a:ln w="7620">
            <a:solidFill>
              <a:srgbClr val="BDBDBD"/>
            </a:solidFill>
            <a:prstDash val="solid"/>
          </a:ln>
        </p:spPr>
        <p:txBody>
          <a:bodyPr/>
          <a:lstStyle/>
          <a:p>
            <a:endParaRPr lang="es-MX" sz="4800"/>
          </a:p>
        </p:txBody>
      </p:sp>
      <p:sp>
        <p:nvSpPr>
          <p:cNvPr id="13" name="Text 7"/>
          <p:cNvSpPr/>
          <p:nvPr/>
        </p:nvSpPr>
        <p:spPr>
          <a:xfrm>
            <a:off x="1481328" y="10812780"/>
            <a:ext cx="2011680" cy="274320"/>
          </a:xfrm>
          <a:prstGeom prst="rect">
            <a:avLst/>
          </a:prstGeom>
          <a:noFill/>
          <a:ln/>
        </p:spPr>
        <p:txBody>
          <a:bodyPr wrap="square" lIns="0" tIns="0" rIns="0" bIns="0" rtlCol="0" anchor="ctr"/>
          <a:lstStyle/>
          <a:p>
            <a:pPr marL="0" indent="0">
              <a:buNone/>
            </a:pPr>
            <a:r>
              <a:rPr lang="en-US" sz="2000" b="1" dirty="0">
                <a:solidFill>
                  <a:srgbClr val="1F5D7E"/>
                </a:solidFill>
                <a:latin typeface="Arial" pitchFamily="34" charset="0"/>
                <a:ea typeface="Arial" pitchFamily="34" charset="-122"/>
                <a:cs typeface="Arial" pitchFamily="34" charset="-120"/>
              </a:rPr>
              <a:t>Objetivo</a:t>
            </a:r>
            <a:endParaRPr lang="en-US" sz="2000" dirty="0"/>
          </a:p>
        </p:txBody>
      </p:sp>
      <p:sp>
        <p:nvSpPr>
          <p:cNvPr id="14" name="Text 8"/>
          <p:cNvSpPr/>
          <p:nvPr/>
        </p:nvSpPr>
        <p:spPr>
          <a:xfrm>
            <a:off x="1508760" y="11251692"/>
            <a:ext cx="5715000" cy="1668780"/>
          </a:xfrm>
          <a:prstGeom prst="rect">
            <a:avLst/>
          </a:prstGeom>
          <a:noFill/>
          <a:ln/>
        </p:spPr>
        <p:txBody>
          <a:bodyPr wrap="square" lIns="381" tIns="381" rIns="381" bIns="381" rtlCol="0" anchor="t">
            <a:normAutofit/>
          </a:bodyPr>
          <a:lstStyle/>
          <a:p>
            <a:r>
              <a:rPr lang="es-ES" dirty="0"/>
              <a:t>Obtener el modelo matemático del sistema Ball and Beam, linealizarlo, discretizarlo mediante ZOH, diseñar un controlador PID discreto y validar su desempeño mediante simulación en MATLAB/</a:t>
            </a:r>
            <a:r>
              <a:rPr lang="es-ES" dirty="0" err="1"/>
              <a:t>Simulink</a:t>
            </a:r>
            <a:r>
              <a:rPr lang="es-ES" dirty="0"/>
              <a:t>, estableciendo la base para su futura validación experimental en un prototipo físico.</a:t>
            </a:r>
          </a:p>
        </p:txBody>
      </p:sp>
      <p:sp>
        <p:nvSpPr>
          <p:cNvPr id="15" name="Text 9"/>
          <p:cNvSpPr/>
          <p:nvPr/>
        </p:nvSpPr>
        <p:spPr>
          <a:xfrm>
            <a:off x="1261872" y="13304520"/>
            <a:ext cx="6181344" cy="960120"/>
          </a:xfrm>
          <a:prstGeom prst="rect">
            <a:avLst/>
          </a:prstGeom>
          <a:noFill/>
          <a:ln/>
        </p:spPr>
        <p:txBody>
          <a:bodyPr wrap="square" lIns="381" tIns="381" rIns="381" bIns="381" rtlCol="0" anchor="t">
            <a:normAutofit/>
          </a:bodyPr>
          <a:lstStyle/>
          <a:p>
            <a:pPr marL="0" indent="0" algn="l">
              <a:buNone/>
            </a:pPr>
            <a:r>
              <a:rPr lang="en-US" dirty="0">
                <a:solidFill>
                  <a:srgbClr val="111111"/>
                </a:solidFill>
                <a:latin typeface="Arial" pitchFamily="34" charset="0"/>
                <a:ea typeface="Arial" pitchFamily="34" charset="-122"/>
                <a:cs typeface="Arial" pitchFamily="34" charset="-120"/>
              </a:rPr>
              <a:t>Hipótesis de trabajo: bola rígida, rodadura sin deslizamiento y pequeñas perturbaciones alrededor del punto de operación.</a:t>
            </a:r>
            <a:endParaRPr lang="en-US" dirty="0"/>
          </a:p>
        </p:txBody>
      </p:sp>
      <p:sp>
        <p:nvSpPr>
          <p:cNvPr id="16" name="Shape 10"/>
          <p:cNvSpPr/>
          <p:nvPr/>
        </p:nvSpPr>
        <p:spPr>
          <a:xfrm>
            <a:off x="822960" y="15179040"/>
            <a:ext cx="7059168" cy="8915400"/>
          </a:xfrm>
          <a:prstGeom prst="rect">
            <a:avLst/>
          </a:prstGeom>
          <a:solidFill>
            <a:srgbClr val="FFFFFF">
              <a:alpha val="0"/>
            </a:srgbClr>
          </a:solidFill>
          <a:ln w="14605">
            <a:solidFill>
              <a:srgbClr val="000000"/>
            </a:solidFill>
            <a:prstDash val="solid"/>
          </a:ln>
        </p:spPr>
        <p:txBody>
          <a:bodyPr/>
          <a:lstStyle/>
          <a:p>
            <a:endParaRPr lang="es-MX" sz="4800"/>
          </a:p>
        </p:txBody>
      </p:sp>
      <p:sp>
        <p:nvSpPr>
          <p:cNvPr id="17" name="Text 11"/>
          <p:cNvSpPr/>
          <p:nvPr/>
        </p:nvSpPr>
        <p:spPr>
          <a:xfrm>
            <a:off x="1234440" y="15617952"/>
            <a:ext cx="6236208" cy="384048"/>
          </a:xfrm>
          <a:prstGeom prst="rect">
            <a:avLst/>
          </a:prstGeom>
          <a:noFill/>
          <a:ln/>
        </p:spPr>
        <p:txBody>
          <a:bodyPr wrap="square" lIns="0" tIns="0" rIns="0" bIns="0" rtlCol="0" anchor="ctr"/>
          <a:lstStyle/>
          <a:p>
            <a:pPr marL="0" indent="0">
              <a:buNone/>
            </a:pPr>
            <a:r>
              <a:rPr lang="en-US" sz="3600" b="1" dirty="0">
                <a:solidFill>
                  <a:srgbClr val="111111"/>
                </a:solidFill>
                <a:latin typeface="Arial" pitchFamily="34" charset="0"/>
                <a:ea typeface="Arial" pitchFamily="34" charset="-122"/>
                <a:cs typeface="Arial" pitchFamily="34" charset="-120"/>
              </a:rPr>
              <a:t>Metodología</a:t>
            </a:r>
            <a:endParaRPr lang="en-US" sz="3600" dirty="0"/>
          </a:p>
        </p:txBody>
      </p:sp>
      <p:sp>
        <p:nvSpPr>
          <p:cNvPr id="18" name="Shape 12"/>
          <p:cNvSpPr/>
          <p:nvPr/>
        </p:nvSpPr>
        <p:spPr>
          <a:xfrm>
            <a:off x="1508760" y="16230600"/>
            <a:ext cx="5687568" cy="1170432"/>
          </a:xfrm>
          <a:prstGeom prst="rect">
            <a:avLst/>
          </a:prstGeom>
          <a:solidFill>
            <a:srgbClr val="F7FBFD"/>
          </a:solidFill>
          <a:ln w="10795">
            <a:solidFill>
              <a:srgbClr val="2B6C91"/>
            </a:solidFill>
            <a:prstDash val="solid"/>
          </a:ln>
        </p:spPr>
        <p:txBody>
          <a:bodyPr/>
          <a:lstStyle/>
          <a:p>
            <a:endParaRPr lang="es-MX" sz="4800"/>
          </a:p>
        </p:txBody>
      </p:sp>
      <p:sp>
        <p:nvSpPr>
          <p:cNvPr id="19" name="Shape 13"/>
          <p:cNvSpPr/>
          <p:nvPr/>
        </p:nvSpPr>
        <p:spPr>
          <a:xfrm>
            <a:off x="1655064" y="16486632"/>
            <a:ext cx="530352" cy="530352"/>
          </a:xfrm>
          <a:prstGeom prst="ellipse">
            <a:avLst/>
          </a:prstGeom>
          <a:solidFill>
            <a:srgbClr val="1F5D7E"/>
          </a:solidFill>
          <a:ln w="12700">
            <a:solidFill>
              <a:srgbClr val="1F5D7E">
                <a:alpha val="0"/>
              </a:srgbClr>
            </a:solidFill>
            <a:prstDash val="solid"/>
          </a:ln>
        </p:spPr>
        <p:txBody>
          <a:bodyPr/>
          <a:lstStyle/>
          <a:p>
            <a:endParaRPr lang="es-MX" sz="4800"/>
          </a:p>
        </p:txBody>
      </p:sp>
      <p:sp>
        <p:nvSpPr>
          <p:cNvPr id="20" name="Text 14"/>
          <p:cNvSpPr/>
          <p:nvPr/>
        </p:nvSpPr>
        <p:spPr>
          <a:xfrm>
            <a:off x="1655064" y="16596360"/>
            <a:ext cx="530352" cy="219456"/>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1</a:t>
            </a:r>
            <a:endParaRPr lang="en-US" dirty="0"/>
          </a:p>
        </p:txBody>
      </p:sp>
      <p:sp>
        <p:nvSpPr>
          <p:cNvPr id="21" name="Text 15"/>
          <p:cNvSpPr/>
          <p:nvPr/>
        </p:nvSpPr>
        <p:spPr>
          <a:xfrm>
            <a:off x="2350008" y="16358616"/>
            <a:ext cx="4681728" cy="228600"/>
          </a:xfrm>
          <a:prstGeom prst="rect">
            <a:avLst/>
          </a:prstGeom>
          <a:noFill/>
          <a:ln/>
        </p:spPr>
        <p:txBody>
          <a:bodyPr wrap="square" lIns="0" tIns="0" rIns="0" bIns="0" rtlCol="0" anchor="ctr"/>
          <a:lstStyle/>
          <a:p>
            <a:pPr marL="0" indent="0">
              <a:buNone/>
            </a:pPr>
            <a:r>
              <a:rPr lang="en-US" b="1" dirty="0">
                <a:solidFill>
                  <a:srgbClr val="1F5D7E"/>
                </a:solidFill>
                <a:latin typeface="Arial" pitchFamily="34" charset="0"/>
                <a:ea typeface="Arial" pitchFamily="34" charset="-122"/>
                <a:cs typeface="Arial" pitchFamily="34" charset="-120"/>
              </a:rPr>
              <a:t>Modelado Euler–Lagrange</a:t>
            </a:r>
            <a:endParaRPr lang="en-US" dirty="0"/>
          </a:p>
        </p:txBody>
      </p:sp>
      <p:sp>
        <p:nvSpPr>
          <p:cNvPr id="22" name="Text 16"/>
          <p:cNvSpPr/>
          <p:nvPr/>
        </p:nvSpPr>
        <p:spPr>
          <a:xfrm>
            <a:off x="2350008" y="16678656"/>
            <a:ext cx="4681728" cy="365760"/>
          </a:xfrm>
          <a:prstGeom prst="rect">
            <a:avLst/>
          </a:prstGeom>
          <a:noFill/>
          <a:ln/>
        </p:spPr>
        <p:txBody>
          <a:bodyPr wrap="square" lIns="127" tIns="127" rIns="127" bIns="127" rtlCol="0" anchor="ctr">
            <a:normAutofit/>
          </a:bodyPr>
          <a:lstStyle/>
          <a:p>
            <a:pPr marL="0" indent="0">
              <a:buNone/>
            </a:pPr>
            <a:r>
              <a:rPr lang="en-US" sz="1600" dirty="0">
                <a:solidFill>
                  <a:srgbClr val="111111"/>
                </a:solidFill>
                <a:latin typeface="Arial" pitchFamily="34" charset="0"/>
                <a:ea typeface="Arial" pitchFamily="34" charset="-122"/>
                <a:cs typeface="Arial" pitchFamily="34" charset="-120"/>
              </a:rPr>
              <a:t>Se obtiene B·r̈ + m·g·sin(θ) ≈ 0, con B = m + Jb/R².</a:t>
            </a:r>
            <a:endParaRPr lang="en-US" sz="1600" dirty="0"/>
          </a:p>
        </p:txBody>
      </p:sp>
      <p:sp>
        <p:nvSpPr>
          <p:cNvPr id="23" name="Shape 17"/>
          <p:cNvSpPr/>
          <p:nvPr/>
        </p:nvSpPr>
        <p:spPr>
          <a:xfrm>
            <a:off x="4352544" y="17401032"/>
            <a:ext cx="0" cy="237744"/>
          </a:xfrm>
          <a:prstGeom prst="line">
            <a:avLst/>
          </a:prstGeom>
          <a:noFill/>
          <a:ln w="12700">
            <a:solidFill>
              <a:srgbClr val="2B6C91"/>
            </a:solidFill>
            <a:prstDash val="solid"/>
            <a:headEnd type="none"/>
            <a:tailEnd type="triangle"/>
          </a:ln>
        </p:spPr>
        <p:txBody>
          <a:bodyPr/>
          <a:lstStyle/>
          <a:p>
            <a:endParaRPr lang="es-MX" sz="4800"/>
          </a:p>
        </p:txBody>
      </p:sp>
      <p:sp>
        <p:nvSpPr>
          <p:cNvPr id="24" name="Shape 18"/>
          <p:cNvSpPr/>
          <p:nvPr/>
        </p:nvSpPr>
        <p:spPr>
          <a:xfrm>
            <a:off x="1508760" y="17730216"/>
            <a:ext cx="5687568" cy="1170432"/>
          </a:xfrm>
          <a:prstGeom prst="rect">
            <a:avLst/>
          </a:prstGeom>
          <a:solidFill>
            <a:srgbClr val="F7FBFD"/>
          </a:solidFill>
          <a:ln w="10795">
            <a:solidFill>
              <a:srgbClr val="2B6C91"/>
            </a:solidFill>
            <a:prstDash val="solid"/>
          </a:ln>
        </p:spPr>
        <p:txBody>
          <a:bodyPr/>
          <a:lstStyle/>
          <a:p>
            <a:endParaRPr lang="es-MX" sz="4800"/>
          </a:p>
        </p:txBody>
      </p:sp>
      <p:sp>
        <p:nvSpPr>
          <p:cNvPr id="25" name="Shape 19"/>
          <p:cNvSpPr/>
          <p:nvPr/>
        </p:nvSpPr>
        <p:spPr>
          <a:xfrm>
            <a:off x="1655064" y="17986248"/>
            <a:ext cx="530352" cy="530352"/>
          </a:xfrm>
          <a:prstGeom prst="ellipse">
            <a:avLst/>
          </a:prstGeom>
          <a:solidFill>
            <a:srgbClr val="1F5D7E"/>
          </a:solidFill>
          <a:ln w="12700">
            <a:solidFill>
              <a:srgbClr val="1F5D7E">
                <a:alpha val="0"/>
              </a:srgbClr>
            </a:solidFill>
            <a:prstDash val="solid"/>
          </a:ln>
        </p:spPr>
        <p:txBody>
          <a:bodyPr/>
          <a:lstStyle/>
          <a:p>
            <a:endParaRPr lang="es-MX" sz="4800"/>
          </a:p>
        </p:txBody>
      </p:sp>
      <p:sp>
        <p:nvSpPr>
          <p:cNvPr id="26" name="Text 20"/>
          <p:cNvSpPr/>
          <p:nvPr/>
        </p:nvSpPr>
        <p:spPr>
          <a:xfrm>
            <a:off x="1655064" y="18095976"/>
            <a:ext cx="530352" cy="219456"/>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2</a:t>
            </a:r>
            <a:endParaRPr lang="en-US" dirty="0"/>
          </a:p>
        </p:txBody>
      </p:sp>
      <p:sp>
        <p:nvSpPr>
          <p:cNvPr id="27" name="Text 21"/>
          <p:cNvSpPr/>
          <p:nvPr/>
        </p:nvSpPr>
        <p:spPr>
          <a:xfrm>
            <a:off x="2350008" y="17858232"/>
            <a:ext cx="4681728" cy="228600"/>
          </a:xfrm>
          <a:prstGeom prst="rect">
            <a:avLst/>
          </a:prstGeom>
          <a:noFill/>
          <a:ln/>
        </p:spPr>
        <p:txBody>
          <a:bodyPr wrap="square" lIns="0" tIns="0" rIns="0" bIns="0" rtlCol="0" anchor="ctr"/>
          <a:lstStyle/>
          <a:p>
            <a:pPr marL="0" indent="0">
              <a:buNone/>
            </a:pPr>
            <a:r>
              <a:rPr lang="en-US" b="1" dirty="0">
                <a:solidFill>
                  <a:srgbClr val="1F5D7E"/>
                </a:solidFill>
                <a:latin typeface="Arial" pitchFamily="34" charset="0"/>
                <a:ea typeface="Arial" pitchFamily="34" charset="-122"/>
                <a:cs typeface="Arial" pitchFamily="34" charset="-120"/>
              </a:rPr>
              <a:t>Linealización</a:t>
            </a:r>
            <a:endParaRPr lang="en-US" dirty="0"/>
          </a:p>
        </p:txBody>
      </p:sp>
      <p:sp>
        <p:nvSpPr>
          <p:cNvPr id="28" name="Text 22"/>
          <p:cNvSpPr/>
          <p:nvPr/>
        </p:nvSpPr>
        <p:spPr>
          <a:xfrm>
            <a:off x="2350008" y="18178272"/>
            <a:ext cx="4681728" cy="365760"/>
          </a:xfrm>
          <a:prstGeom prst="rect">
            <a:avLst/>
          </a:prstGeom>
          <a:noFill/>
          <a:ln/>
        </p:spPr>
        <p:txBody>
          <a:bodyPr wrap="square" lIns="127" tIns="127" rIns="127" bIns="127" rtlCol="0" anchor="ctr">
            <a:noAutofit/>
          </a:bodyPr>
          <a:lstStyle/>
          <a:p>
            <a:pPr marL="0" indent="0">
              <a:buNone/>
            </a:pPr>
            <a:r>
              <a:rPr lang="en-US" sz="1600" dirty="0">
                <a:solidFill>
                  <a:srgbClr val="111111"/>
                </a:solidFill>
                <a:latin typeface="Arial" pitchFamily="34" charset="0"/>
                <a:ea typeface="Arial" pitchFamily="34" charset="-122"/>
                <a:cs typeface="Arial" pitchFamily="34" charset="-120"/>
              </a:rPr>
              <a:t>Aproximación de pequeñas perturbaciones: θ≈0 y r≈r₀.</a:t>
            </a:r>
            <a:endParaRPr lang="en-US" sz="1600" dirty="0"/>
          </a:p>
        </p:txBody>
      </p:sp>
      <p:sp>
        <p:nvSpPr>
          <p:cNvPr id="29" name="Shape 23"/>
          <p:cNvSpPr/>
          <p:nvPr/>
        </p:nvSpPr>
        <p:spPr>
          <a:xfrm>
            <a:off x="4352544" y="18900648"/>
            <a:ext cx="0" cy="237744"/>
          </a:xfrm>
          <a:prstGeom prst="line">
            <a:avLst/>
          </a:prstGeom>
          <a:noFill/>
          <a:ln w="12700">
            <a:solidFill>
              <a:srgbClr val="2B6C91"/>
            </a:solidFill>
            <a:prstDash val="solid"/>
            <a:headEnd type="none"/>
            <a:tailEnd type="triangle"/>
          </a:ln>
        </p:spPr>
        <p:txBody>
          <a:bodyPr/>
          <a:lstStyle/>
          <a:p>
            <a:endParaRPr lang="es-MX" sz="4800"/>
          </a:p>
        </p:txBody>
      </p:sp>
      <p:sp>
        <p:nvSpPr>
          <p:cNvPr id="30" name="Shape 24"/>
          <p:cNvSpPr/>
          <p:nvPr/>
        </p:nvSpPr>
        <p:spPr>
          <a:xfrm>
            <a:off x="1508760" y="19229832"/>
            <a:ext cx="5687568" cy="1170432"/>
          </a:xfrm>
          <a:prstGeom prst="rect">
            <a:avLst/>
          </a:prstGeom>
          <a:solidFill>
            <a:srgbClr val="F7FBFD"/>
          </a:solidFill>
          <a:ln w="10795">
            <a:solidFill>
              <a:srgbClr val="2B6C91"/>
            </a:solidFill>
            <a:prstDash val="solid"/>
          </a:ln>
        </p:spPr>
        <p:txBody>
          <a:bodyPr/>
          <a:lstStyle/>
          <a:p>
            <a:endParaRPr lang="es-MX" sz="4800"/>
          </a:p>
        </p:txBody>
      </p:sp>
      <p:sp>
        <p:nvSpPr>
          <p:cNvPr id="31" name="Shape 25"/>
          <p:cNvSpPr/>
          <p:nvPr/>
        </p:nvSpPr>
        <p:spPr>
          <a:xfrm>
            <a:off x="1655064" y="19485864"/>
            <a:ext cx="530352" cy="530352"/>
          </a:xfrm>
          <a:prstGeom prst="ellipse">
            <a:avLst/>
          </a:prstGeom>
          <a:solidFill>
            <a:srgbClr val="1F5D7E"/>
          </a:solidFill>
          <a:ln w="12700">
            <a:solidFill>
              <a:srgbClr val="1F5D7E">
                <a:alpha val="0"/>
              </a:srgbClr>
            </a:solidFill>
            <a:prstDash val="solid"/>
          </a:ln>
        </p:spPr>
        <p:txBody>
          <a:bodyPr/>
          <a:lstStyle/>
          <a:p>
            <a:endParaRPr lang="es-MX" sz="4800"/>
          </a:p>
        </p:txBody>
      </p:sp>
      <p:sp>
        <p:nvSpPr>
          <p:cNvPr id="32" name="Text 26"/>
          <p:cNvSpPr/>
          <p:nvPr/>
        </p:nvSpPr>
        <p:spPr>
          <a:xfrm>
            <a:off x="1655064" y="19595592"/>
            <a:ext cx="530352" cy="219456"/>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3</a:t>
            </a:r>
            <a:endParaRPr lang="en-US" dirty="0"/>
          </a:p>
        </p:txBody>
      </p:sp>
      <p:sp>
        <p:nvSpPr>
          <p:cNvPr id="33" name="Text 27"/>
          <p:cNvSpPr/>
          <p:nvPr/>
        </p:nvSpPr>
        <p:spPr>
          <a:xfrm>
            <a:off x="2350008" y="19357848"/>
            <a:ext cx="4681728" cy="228600"/>
          </a:xfrm>
          <a:prstGeom prst="rect">
            <a:avLst/>
          </a:prstGeom>
          <a:noFill/>
          <a:ln/>
        </p:spPr>
        <p:txBody>
          <a:bodyPr wrap="square" lIns="0" tIns="0" rIns="0" bIns="0" rtlCol="0" anchor="ctr"/>
          <a:lstStyle/>
          <a:p>
            <a:pPr marL="0" indent="0">
              <a:buNone/>
            </a:pPr>
            <a:r>
              <a:rPr lang="en-US" b="1" dirty="0">
                <a:solidFill>
                  <a:srgbClr val="1F5D7E"/>
                </a:solidFill>
                <a:latin typeface="Arial" pitchFamily="34" charset="0"/>
                <a:ea typeface="Arial" pitchFamily="34" charset="-122"/>
                <a:cs typeface="Arial" pitchFamily="34" charset="-120"/>
              </a:rPr>
              <a:t>Discretización ZOH</a:t>
            </a:r>
            <a:endParaRPr lang="en-US" dirty="0"/>
          </a:p>
        </p:txBody>
      </p:sp>
      <p:sp>
        <p:nvSpPr>
          <p:cNvPr id="34" name="Text 28"/>
          <p:cNvSpPr/>
          <p:nvPr/>
        </p:nvSpPr>
        <p:spPr>
          <a:xfrm>
            <a:off x="2350008" y="19677888"/>
            <a:ext cx="4681728" cy="365760"/>
          </a:xfrm>
          <a:prstGeom prst="rect">
            <a:avLst/>
          </a:prstGeom>
          <a:noFill/>
          <a:ln/>
        </p:spPr>
        <p:txBody>
          <a:bodyPr wrap="square" lIns="127" tIns="127" rIns="127" bIns="127" rtlCol="0" anchor="ctr">
            <a:noAutofit/>
          </a:bodyPr>
          <a:lstStyle/>
          <a:p>
            <a:pPr marL="0" indent="0">
              <a:buNone/>
            </a:pPr>
            <a:r>
              <a:rPr lang="en-US" sz="1600" dirty="0">
                <a:solidFill>
                  <a:srgbClr val="111111"/>
                </a:solidFill>
                <a:latin typeface="Arial" pitchFamily="34" charset="0"/>
                <a:ea typeface="Arial" pitchFamily="34" charset="-122"/>
                <a:cs typeface="Arial" pitchFamily="34" charset="-120"/>
              </a:rPr>
              <a:t>Transformada Z y retenedor de orden cero para implementar control digital.</a:t>
            </a:r>
            <a:endParaRPr lang="en-US" sz="1600" dirty="0"/>
          </a:p>
        </p:txBody>
      </p:sp>
      <p:sp>
        <p:nvSpPr>
          <p:cNvPr id="35" name="Shape 29"/>
          <p:cNvSpPr/>
          <p:nvPr/>
        </p:nvSpPr>
        <p:spPr>
          <a:xfrm>
            <a:off x="4352544" y="20400264"/>
            <a:ext cx="0" cy="237744"/>
          </a:xfrm>
          <a:prstGeom prst="line">
            <a:avLst/>
          </a:prstGeom>
          <a:noFill/>
          <a:ln w="12700">
            <a:solidFill>
              <a:srgbClr val="2B6C91"/>
            </a:solidFill>
            <a:prstDash val="solid"/>
            <a:headEnd type="none"/>
            <a:tailEnd type="triangle"/>
          </a:ln>
        </p:spPr>
        <p:txBody>
          <a:bodyPr/>
          <a:lstStyle/>
          <a:p>
            <a:endParaRPr lang="es-MX" sz="4800"/>
          </a:p>
        </p:txBody>
      </p:sp>
      <p:sp>
        <p:nvSpPr>
          <p:cNvPr id="36" name="Shape 30"/>
          <p:cNvSpPr/>
          <p:nvPr/>
        </p:nvSpPr>
        <p:spPr>
          <a:xfrm>
            <a:off x="1508760" y="20729448"/>
            <a:ext cx="5687568" cy="1170432"/>
          </a:xfrm>
          <a:prstGeom prst="rect">
            <a:avLst/>
          </a:prstGeom>
          <a:solidFill>
            <a:srgbClr val="F7FBFD"/>
          </a:solidFill>
          <a:ln w="10795">
            <a:solidFill>
              <a:srgbClr val="2B6C91"/>
            </a:solidFill>
            <a:prstDash val="solid"/>
          </a:ln>
        </p:spPr>
        <p:txBody>
          <a:bodyPr/>
          <a:lstStyle/>
          <a:p>
            <a:endParaRPr lang="es-MX" sz="4800"/>
          </a:p>
        </p:txBody>
      </p:sp>
      <p:sp>
        <p:nvSpPr>
          <p:cNvPr id="37" name="Shape 31"/>
          <p:cNvSpPr/>
          <p:nvPr/>
        </p:nvSpPr>
        <p:spPr>
          <a:xfrm>
            <a:off x="1655064" y="20985480"/>
            <a:ext cx="530352" cy="530352"/>
          </a:xfrm>
          <a:prstGeom prst="ellipse">
            <a:avLst/>
          </a:prstGeom>
          <a:solidFill>
            <a:srgbClr val="1F5D7E"/>
          </a:solidFill>
          <a:ln w="12700">
            <a:solidFill>
              <a:srgbClr val="1F5D7E">
                <a:alpha val="0"/>
              </a:srgbClr>
            </a:solidFill>
            <a:prstDash val="solid"/>
          </a:ln>
        </p:spPr>
        <p:txBody>
          <a:bodyPr/>
          <a:lstStyle/>
          <a:p>
            <a:endParaRPr lang="es-MX" sz="4800"/>
          </a:p>
        </p:txBody>
      </p:sp>
      <p:sp>
        <p:nvSpPr>
          <p:cNvPr id="38" name="Text 32"/>
          <p:cNvSpPr/>
          <p:nvPr/>
        </p:nvSpPr>
        <p:spPr>
          <a:xfrm>
            <a:off x="1655064" y="21095208"/>
            <a:ext cx="530352" cy="219456"/>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4</a:t>
            </a:r>
            <a:endParaRPr lang="en-US" dirty="0"/>
          </a:p>
        </p:txBody>
      </p:sp>
      <p:sp>
        <p:nvSpPr>
          <p:cNvPr id="39" name="Text 33"/>
          <p:cNvSpPr/>
          <p:nvPr/>
        </p:nvSpPr>
        <p:spPr>
          <a:xfrm>
            <a:off x="2350008" y="20857464"/>
            <a:ext cx="4681728" cy="228600"/>
          </a:xfrm>
          <a:prstGeom prst="rect">
            <a:avLst/>
          </a:prstGeom>
          <a:noFill/>
          <a:ln/>
        </p:spPr>
        <p:txBody>
          <a:bodyPr wrap="square" lIns="0" tIns="0" rIns="0" bIns="0" rtlCol="0" anchor="ctr"/>
          <a:lstStyle/>
          <a:p>
            <a:pPr marL="0" indent="0">
              <a:buNone/>
            </a:pPr>
            <a:r>
              <a:rPr lang="en-US" b="1" dirty="0">
                <a:solidFill>
                  <a:srgbClr val="1F5D7E"/>
                </a:solidFill>
                <a:latin typeface="Arial" pitchFamily="34" charset="0"/>
                <a:ea typeface="Arial" pitchFamily="34" charset="-122"/>
                <a:cs typeface="Arial" pitchFamily="34" charset="-120"/>
              </a:rPr>
              <a:t>Diseño PID discreto</a:t>
            </a:r>
            <a:endParaRPr lang="en-US" dirty="0"/>
          </a:p>
        </p:txBody>
      </p:sp>
      <p:sp>
        <p:nvSpPr>
          <p:cNvPr id="40" name="Text 34"/>
          <p:cNvSpPr/>
          <p:nvPr/>
        </p:nvSpPr>
        <p:spPr>
          <a:xfrm>
            <a:off x="2350008" y="21177504"/>
            <a:ext cx="4681728" cy="365760"/>
          </a:xfrm>
          <a:prstGeom prst="rect">
            <a:avLst/>
          </a:prstGeom>
          <a:noFill/>
          <a:ln/>
        </p:spPr>
        <p:txBody>
          <a:bodyPr wrap="square" lIns="127" tIns="127" rIns="127" bIns="127" rtlCol="0" anchor="ctr">
            <a:noAutofit/>
          </a:bodyPr>
          <a:lstStyle/>
          <a:p>
            <a:pPr marL="0" indent="0">
              <a:buNone/>
            </a:pPr>
            <a:r>
              <a:rPr lang="en-US" sz="1600" dirty="0">
                <a:solidFill>
                  <a:srgbClr val="111111"/>
                </a:solidFill>
                <a:latin typeface="Arial" pitchFamily="34" charset="0"/>
                <a:ea typeface="Arial" pitchFamily="34" charset="-122"/>
                <a:cs typeface="Arial" pitchFamily="34" charset="-120"/>
              </a:rPr>
              <a:t>Asignación de polos y ajuste Kp, Ki, Kd en MATLAB/Simulink.</a:t>
            </a:r>
            <a:endParaRPr lang="en-US" sz="1600" dirty="0"/>
          </a:p>
        </p:txBody>
      </p:sp>
      <p:sp>
        <p:nvSpPr>
          <p:cNvPr id="41" name="Shape 35"/>
          <p:cNvSpPr/>
          <p:nvPr/>
        </p:nvSpPr>
        <p:spPr>
          <a:xfrm>
            <a:off x="4352544" y="21899880"/>
            <a:ext cx="0" cy="237744"/>
          </a:xfrm>
          <a:prstGeom prst="line">
            <a:avLst/>
          </a:prstGeom>
          <a:noFill/>
          <a:ln w="12700">
            <a:solidFill>
              <a:srgbClr val="2B6C91"/>
            </a:solidFill>
            <a:prstDash val="solid"/>
            <a:headEnd type="none"/>
            <a:tailEnd type="triangle"/>
          </a:ln>
        </p:spPr>
        <p:txBody>
          <a:bodyPr/>
          <a:lstStyle/>
          <a:p>
            <a:endParaRPr lang="es-MX" sz="4800"/>
          </a:p>
        </p:txBody>
      </p:sp>
      <p:sp>
        <p:nvSpPr>
          <p:cNvPr id="42" name="Shape 36"/>
          <p:cNvSpPr/>
          <p:nvPr/>
        </p:nvSpPr>
        <p:spPr>
          <a:xfrm>
            <a:off x="1508760" y="22229064"/>
            <a:ext cx="5687568" cy="1170432"/>
          </a:xfrm>
          <a:prstGeom prst="rect">
            <a:avLst/>
          </a:prstGeom>
          <a:solidFill>
            <a:srgbClr val="F7FBFD"/>
          </a:solidFill>
          <a:ln w="10795">
            <a:solidFill>
              <a:srgbClr val="2B6C91"/>
            </a:solidFill>
            <a:prstDash val="solid"/>
          </a:ln>
        </p:spPr>
        <p:txBody>
          <a:bodyPr/>
          <a:lstStyle/>
          <a:p>
            <a:endParaRPr lang="es-MX" sz="4800"/>
          </a:p>
        </p:txBody>
      </p:sp>
      <p:sp>
        <p:nvSpPr>
          <p:cNvPr id="43" name="Shape 37"/>
          <p:cNvSpPr/>
          <p:nvPr/>
        </p:nvSpPr>
        <p:spPr>
          <a:xfrm>
            <a:off x="1655064" y="22485096"/>
            <a:ext cx="530352" cy="530352"/>
          </a:xfrm>
          <a:prstGeom prst="ellipse">
            <a:avLst/>
          </a:prstGeom>
          <a:solidFill>
            <a:srgbClr val="1F5D7E"/>
          </a:solidFill>
          <a:ln w="12700">
            <a:solidFill>
              <a:srgbClr val="1F5D7E">
                <a:alpha val="0"/>
              </a:srgbClr>
            </a:solidFill>
            <a:prstDash val="solid"/>
          </a:ln>
        </p:spPr>
        <p:txBody>
          <a:bodyPr/>
          <a:lstStyle/>
          <a:p>
            <a:endParaRPr lang="es-MX" sz="4800"/>
          </a:p>
        </p:txBody>
      </p:sp>
      <p:sp>
        <p:nvSpPr>
          <p:cNvPr id="44" name="Text 38"/>
          <p:cNvSpPr/>
          <p:nvPr/>
        </p:nvSpPr>
        <p:spPr>
          <a:xfrm>
            <a:off x="1655064" y="22594824"/>
            <a:ext cx="530352" cy="219456"/>
          </a:xfrm>
          <a:prstGeom prst="rect">
            <a:avLst/>
          </a:prstGeom>
          <a:noFill/>
          <a:ln/>
        </p:spPr>
        <p:txBody>
          <a:bodyPr wrap="square" lIns="0" tIns="0" rIns="0" bIns="0" rtlCol="0" anchor="ctr"/>
          <a:lstStyle/>
          <a:p>
            <a:pPr marL="0" indent="0" algn="ctr">
              <a:buNone/>
            </a:pPr>
            <a:r>
              <a:rPr lang="en-US" b="1" dirty="0">
                <a:solidFill>
                  <a:srgbClr val="FFFFFF"/>
                </a:solidFill>
                <a:latin typeface="Arial" pitchFamily="34" charset="0"/>
                <a:ea typeface="Arial" pitchFamily="34" charset="-122"/>
                <a:cs typeface="Arial" pitchFamily="34" charset="-120"/>
              </a:rPr>
              <a:t>5</a:t>
            </a:r>
            <a:endParaRPr lang="en-US" dirty="0"/>
          </a:p>
        </p:txBody>
      </p:sp>
      <p:sp>
        <p:nvSpPr>
          <p:cNvPr id="45" name="Text 39"/>
          <p:cNvSpPr/>
          <p:nvPr/>
        </p:nvSpPr>
        <p:spPr>
          <a:xfrm>
            <a:off x="2350008" y="22357080"/>
            <a:ext cx="4681728" cy="228600"/>
          </a:xfrm>
          <a:prstGeom prst="rect">
            <a:avLst/>
          </a:prstGeom>
          <a:noFill/>
          <a:ln/>
        </p:spPr>
        <p:txBody>
          <a:bodyPr wrap="square" lIns="0" tIns="0" rIns="0" bIns="0" rtlCol="0" anchor="ctr"/>
          <a:lstStyle/>
          <a:p>
            <a:pPr marL="0" indent="0">
              <a:buNone/>
            </a:pPr>
            <a:r>
              <a:rPr lang="en-US" b="1" dirty="0">
                <a:solidFill>
                  <a:srgbClr val="1F5D7E"/>
                </a:solidFill>
                <a:latin typeface="Arial" pitchFamily="34" charset="0"/>
                <a:ea typeface="Arial" pitchFamily="34" charset="-122"/>
                <a:cs typeface="Arial" pitchFamily="34" charset="-120"/>
              </a:rPr>
              <a:t>Integración física</a:t>
            </a:r>
            <a:endParaRPr lang="en-US" dirty="0"/>
          </a:p>
        </p:txBody>
      </p:sp>
      <p:sp>
        <p:nvSpPr>
          <p:cNvPr id="46" name="Text 40"/>
          <p:cNvSpPr/>
          <p:nvPr/>
        </p:nvSpPr>
        <p:spPr>
          <a:xfrm>
            <a:off x="2350008" y="22677120"/>
            <a:ext cx="4681728" cy="365760"/>
          </a:xfrm>
          <a:prstGeom prst="rect">
            <a:avLst/>
          </a:prstGeom>
          <a:noFill/>
          <a:ln/>
        </p:spPr>
        <p:txBody>
          <a:bodyPr wrap="square" lIns="127" tIns="127" rIns="127" bIns="127" rtlCol="0" anchor="ctr">
            <a:noAutofit/>
          </a:bodyPr>
          <a:lstStyle/>
          <a:p>
            <a:pPr marL="0" indent="0">
              <a:buNone/>
            </a:pPr>
            <a:r>
              <a:rPr lang="en-US" sz="1600" dirty="0">
                <a:solidFill>
                  <a:srgbClr val="111111"/>
                </a:solidFill>
                <a:latin typeface="Arial" pitchFamily="34" charset="0"/>
                <a:ea typeface="Arial" pitchFamily="34" charset="-122"/>
                <a:cs typeface="Arial" pitchFamily="34" charset="-120"/>
              </a:rPr>
              <a:t>PLA, sensor GP2Y0A21, motor NEMA 17, DRV8825 y microcontrolador 32 bits.</a:t>
            </a:r>
            <a:endParaRPr lang="en-US" sz="1600" dirty="0"/>
          </a:p>
        </p:txBody>
      </p:sp>
      <p:sp>
        <p:nvSpPr>
          <p:cNvPr id="47" name="Shape 41"/>
          <p:cNvSpPr/>
          <p:nvPr/>
        </p:nvSpPr>
        <p:spPr>
          <a:xfrm>
            <a:off x="822960" y="24780240"/>
            <a:ext cx="7059168" cy="4690872"/>
          </a:xfrm>
          <a:prstGeom prst="rect">
            <a:avLst/>
          </a:prstGeom>
          <a:solidFill>
            <a:srgbClr val="FFFFFF">
              <a:alpha val="0"/>
            </a:srgbClr>
          </a:solidFill>
          <a:ln w="14605">
            <a:solidFill>
              <a:srgbClr val="000000"/>
            </a:solidFill>
            <a:prstDash val="solid"/>
          </a:ln>
        </p:spPr>
        <p:txBody>
          <a:bodyPr/>
          <a:lstStyle/>
          <a:p>
            <a:endParaRPr lang="es-MX" sz="5400"/>
          </a:p>
        </p:txBody>
      </p:sp>
      <p:sp>
        <p:nvSpPr>
          <p:cNvPr id="48" name="Text 42"/>
          <p:cNvSpPr/>
          <p:nvPr/>
        </p:nvSpPr>
        <p:spPr>
          <a:xfrm>
            <a:off x="1234440" y="25219152"/>
            <a:ext cx="6236208" cy="384048"/>
          </a:xfrm>
          <a:prstGeom prst="rect">
            <a:avLst/>
          </a:prstGeom>
          <a:noFill/>
          <a:ln/>
        </p:spPr>
        <p:txBody>
          <a:bodyPr wrap="square" lIns="0" tIns="0" rIns="0" bIns="0" rtlCol="0" anchor="ctr"/>
          <a:lstStyle/>
          <a:p>
            <a:pPr marL="0" indent="0">
              <a:buNone/>
            </a:pPr>
            <a:r>
              <a:rPr lang="en-US" sz="3200" b="1" dirty="0">
                <a:solidFill>
                  <a:srgbClr val="111111"/>
                </a:solidFill>
                <a:latin typeface="Arial" pitchFamily="34" charset="0"/>
                <a:ea typeface="Arial" pitchFamily="34" charset="-122"/>
                <a:cs typeface="Arial" pitchFamily="34" charset="-120"/>
              </a:rPr>
              <a:t>Referencias</a:t>
            </a:r>
            <a:endParaRPr lang="en-US" sz="3200" dirty="0"/>
          </a:p>
        </p:txBody>
      </p:sp>
      <p:sp>
        <p:nvSpPr>
          <p:cNvPr id="49" name="Text 43"/>
          <p:cNvSpPr/>
          <p:nvPr/>
        </p:nvSpPr>
        <p:spPr>
          <a:xfrm>
            <a:off x="1234440" y="25767792"/>
            <a:ext cx="3072384" cy="3255264"/>
          </a:xfrm>
          <a:prstGeom prst="rect">
            <a:avLst/>
          </a:prstGeom>
          <a:noFill/>
          <a:ln/>
        </p:spPr>
        <p:txBody>
          <a:bodyPr wrap="square" lIns="381" tIns="381" rIns="381" bIns="381" rtlCol="0" anchor="t">
            <a:normAutofit/>
          </a:bodyPr>
          <a:lstStyle/>
          <a:p>
            <a:pPr marL="0" indent="0" algn="l">
              <a:buNone/>
            </a:pPr>
            <a:r>
              <a:rPr lang="en-US" sz="1400" dirty="0">
                <a:solidFill>
                  <a:srgbClr val="111111"/>
                </a:solidFill>
                <a:latin typeface="Arial" pitchFamily="34" charset="0"/>
                <a:ea typeface="Arial" pitchFamily="34" charset="-122"/>
                <a:cs typeface="Arial" pitchFamily="34" charset="-120"/>
              </a:rPr>
              <a:t>[1] K. J. Åström y T. Hägglund, PID Controllers: Theory, Design, and Tuning, ISA, 1995.</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[2] H. K. Khalil, Nonlinear Systems, Prentice Hall, 2002.</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[3] R. C. Dorf y R. H. Bishop, Modern Control Systems, Pearson, 2017.</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[4] MathWorks, Control System Toolbox.</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[5] J. C. Kantor, Ball and Beam Control Demonstration, Univ. Notre Dame, 2021.</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[6] G. F. Franklin, J. D. Powell y M. L. Workman, Digital Control of Dynamic Systems, 1998.</a:t>
            </a:r>
            <a:endParaRPr lang="en-US" sz="1400" dirty="0"/>
          </a:p>
        </p:txBody>
      </p:sp>
      <p:sp>
        <p:nvSpPr>
          <p:cNvPr id="50" name="Text 44"/>
          <p:cNvSpPr/>
          <p:nvPr/>
        </p:nvSpPr>
        <p:spPr>
          <a:xfrm>
            <a:off x="4210812" y="25498044"/>
            <a:ext cx="3767328" cy="3255264"/>
          </a:xfrm>
          <a:prstGeom prst="rect">
            <a:avLst/>
          </a:prstGeom>
          <a:noFill/>
          <a:ln/>
        </p:spPr>
        <p:txBody>
          <a:bodyPr wrap="square" lIns="381" tIns="381" rIns="381" bIns="381" rtlCol="0" anchor="t">
            <a:normAutofit/>
          </a:bodyPr>
          <a:lstStyle/>
          <a:p>
            <a:pPr marL="0" indent="0" algn="l">
              <a:buNone/>
            </a:pPr>
            <a:r>
              <a:rPr lang="en-US" sz="1400" dirty="0">
                <a:solidFill>
                  <a:srgbClr val="111111"/>
                </a:solidFill>
                <a:latin typeface="Arial" pitchFamily="34" charset="0"/>
                <a:ea typeface="Arial" pitchFamily="34" charset="-122"/>
                <a:cs typeface="Arial" pitchFamily="34" charset="-120"/>
              </a:rPr>
              <a:t>[7] F. Abbasi, Ball and Beam Control System, Univ. Tehran, 2023.</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[8] Texas Instruments, DRV8825 Stepper Motor Controller IC, Datasheet, 2014.</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[9] Sharp, GP2Y0A21YK0F Distance Measuring Sensor, Datasheet.</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[10] E. D. Sontag, Mathematical Control Theory, Springer, 1998.</a:t>
            </a:r>
            <a:endParaRPr lang="en-US" sz="1400" dirty="0"/>
          </a:p>
          <a:p>
            <a:pPr marL="0" indent="0" algn="l">
              <a:buNone/>
            </a:pPr>
            <a:r>
              <a:rPr lang="en-US" sz="1400" dirty="0">
                <a:solidFill>
                  <a:srgbClr val="111111"/>
                </a:solidFill>
                <a:latin typeface="Arial" pitchFamily="34" charset="0"/>
                <a:ea typeface="Arial" pitchFamily="34" charset="-122"/>
                <a:cs typeface="Arial" pitchFamily="34" charset="-120"/>
              </a:rPr>
              <a:t>[11] Dassault Systèmes, SolidWorks Documentation.</a:t>
            </a:r>
            <a:endParaRPr lang="en-US" sz="1400" dirty="0"/>
          </a:p>
        </p:txBody>
      </p:sp>
      <p:sp>
        <p:nvSpPr>
          <p:cNvPr id="51" name="Shape 45"/>
          <p:cNvSpPr/>
          <p:nvPr/>
        </p:nvSpPr>
        <p:spPr>
          <a:xfrm>
            <a:off x="8366760" y="6309360"/>
            <a:ext cx="12390120" cy="14036040"/>
          </a:xfrm>
          <a:prstGeom prst="rect">
            <a:avLst/>
          </a:prstGeom>
          <a:solidFill>
            <a:srgbClr val="FFFFFF">
              <a:alpha val="0"/>
            </a:srgbClr>
          </a:solidFill>
          <a:ln w="14605">
            <a:solidFill>
              <a:srgbClr val="000000"/>
            </a:solidFill>
            <a:prstDash val="solid"/>
          </a:ln>
        </p:spPr>
        <p:txBody>
          <a:bodyPr/>
          <a:lstStyle/>
          <a:p>
            <a:endParaRPr lang="es-MX" sz="4000"/>
          </a:p>
        </p:txBody>
      </p:sp>
      <p:sp>
        <p:nvSpPr>
          <p:cNvPr id="52" name="Text 46"/>
          <p:cNvSpPr/>
          <p:nvPr/>
        </p:nvSpPr>
        <p:spPr>
          <a:xfrm>
            <a:off x="8778240" y="6748272"/>
            <a:ext cx="11567160" cy="384048"/>
          </a:xfrm>
          <a:prstGeom prst="rect">
            <a:avLst/>
          </a:prstGeom>
          <a:noFill/>
          <a:ln/>
        </p:spPr>
        <p:txBody>
          <a:bodyPr wrap="square" lIns="0" tIns="0" rIns="0" bIns="0" rtlCol="0" anchor="ctr"/>
          <a:lstStyle/>
          <a:p>
            <a:pPr marL="0" indent="0">
              <a:buNone/>
            </a:pPr>
            <a:r>
              <a:rPr lang="en-US" sz="3600" b="1" dirty="0">
                <a:solidFill>
                  <a:srgbClr val="111111"/>
                </a:solidFill>
                <a:latin typeface="Arial" pitchFamily="34" charset="0"/>
                <a:ea typeface="Arial" pitchFamily="34" charset="-122"/>
                <a:cs typeface="Arial" pitchFamily="34" charset="-120"/>
              </a:rPr>
              <a:t>Resultados y discusión</a:t>
            </a:r>
            <a:endParaRPr lang="en-US" sz="3600" dirty="0"/>
          </a:p>
        </p:txBody>
      </p:sp>
      <p:sp>
        <p:nvSpPr>
          <p:cNvPr id="53" name="Text 47"/>
          <p:cNvSpPr/>
          <p:nvPr/>
        </p:nvSpPr>
        <p:spPr>
          <a:xfrm>
            <a:off x="8778240" y="7310347"/>
            <a:ext cx="11475720" cy="1417320"/>
          </a:xfrm>
          <a:prstGeom prst="rect">
            <a:avLst/>
          </a:prstGeom>
          <a:noFill/>
          <a:ln/>
        </p:spPr>
        <p:txBody>
          <a:bodyPr wrap="square" lIns="381" tIns="381" rIns="381" bIns="381" rtlCol="0" anchor="t">
            <a:normAutofit/>
          </a:bodyPr>
          <a:lstStyle/>
          <a:p>
            <a:r>
              <a:rPr lang="es-ES" dirty="0">
                <a:solidFill>
                  <a:srgbClr val="111111"/>
                </a:solidFill>
                <a:latin typeface="Arial" pitchFamily="34" charset="0"/>
                <a:ea typeface="Arial" pitchFamily="34" charset="-122"/>
                <a:cs typeface="Arial" pitchFamily="34" charset="-120"/>
              </a:rPr>
              <a:t>Los resultados de simulación se obtuvieron en MATLAB/</a:t>
            </a:r>
            <a:r>
              <a:rPr lang="es-ES" dirty="0" err="1">
                <a:solidFill>
                  <a:srgbClr val="111111"/>
                </a:solidFill>
                <a:latin typeface="Arial" pitchFamily="34" charset="0"/>
                <a:ea typeface="Arial" pitchFamily="34" charset="-122"/>
                <a:cs typeface="Arial" pitchFamily="34" charset="-120"/>
              </a:rPr>
              <a:t>Simulink</a:t>
            </a:r>
            <a:r>
              <a:rPr lang="es-ES" dirty="0">
                <a:solidFill>
                  <a:srgbClr val="111111"/>
                </a:solidFill>
                <a:latin typeface="Arial" pitchFamily="34" charset="0"/>
                <a:ea typeface="Arial" pitchFamily="34" charset="-122"/>
                <a:cs typeface="Arial" pitchFamily="34" charset="-120"/>
              </a:rPr>
              <a:t> usando un periodo de muestreo </a:t>
            </a:r>
            <a:r>
              <a:rPr lang="es-ES" dirty="0" err="1">
                <a:solidFill>
                  <a:srgbClr val="111111"/>
                </a:solidFill>
                <a:latin typeface="Arial" pitchFamily="34" charset="0"/>
                <a:ea typeface="Arial" pitchFamily="34" charset="-122"/>
                <a:cs typeface="Arial" pitchFamily="34" charset="-120"/>
              </a:rPr>
              <a:t>Ts</a:t>
            </a:r>
            <a:r>
              <a:rPr lang="es-ES" dirty="0">
                <a:solidFill>
                  <a:srgbClr val="111111"/>
                </a:solidFill>
                <a:latin typeface="Arial" pitchFamily="34" charset="0"/>
                <a:ea typeface="Arial" pitchFamily="34" charset="-122"/>
                <a:cs typeface="Arial" pitchFamily="34" charset="-120"/>
              </a:rPr>
              <a:t> = 0.02 s y un controlador PID discreto con </a:t>
            </a:r>
            <a:r>
              <a:rPr lang="es-ES" dirty="0" err="1">
                <a:solidFill>
                  <a:srgbClr val="111111"/>
                </a:solidFill>
                <a:latin typeface="Arial" pitchFamily="34" charset="0"/>
                <a:ea typeface="Arial" pitchFamily="34" charset="-122"/>
                <a:cs typeface="Arial" pitchFamily="34" charset="-120"/>
              </a:rPr>
              <a:t>Kp</a:t>
            </a:r>
            <a:r>
              <a:rPr lang="es-ES" dirty="0">
                <a:solidFill>
                  <a:srgbClr val="111111"/>
                </a:solidFill>
                <a:latin typeface="Arial" pitchFamily="34" charset="0"/>
                <a:ea typeface="Arial" pitchFamily="34" charset="-122"/>
                <a:cs typeface="Arial" pitchFamily="34" charset="-120"/>
              </a:rPr>
              <a:t> = 8.5, Ki = 0.3 y </a:t>
            </a:r>
            <a:r>
              <a:rPr lang="es-ES" dirty="0" err="1">
                <a:solidFill>
                  <a:srgbClr val="111111"/>
                </a:solidFill>
                <a:latin typeface="Arial" pitchFamily="34" charset="0"/>
                <a:ea typeface="Arial" pitchFamily="34" charset="-122"/>
                <a:cs typeface="Arial" pitchFamily="34" charset="-120"/>
              </a:rPr>
              <a:t>Kd</a:t>
            </a:r>
            <a:r>
              <a:rPr lang="es-ES" dirty="0">
                <a:solidFill>
                  <a:srgbClr val="111111"/>
                </a:solidFill>
                <a:latin typeface="Arial" pitchFamily="34" charset="0"/>
                <a:ea typeface="Arial" pitchFamily="34" charset="-122"/>
                <a:cs typeface="Arial" pitchFamily="34" charset="-120"/>
              </a:rPr>
              <a:t> = 2.1. La respuesta ante una entrada escalón presentó un tiempo de establecimiento de 2.8 s, un </a:t>
            </a:r>
            <a:r>
              <a:rPr lang="es-ES" dirty="0" err="1">
                <a:solidFill>
                  <a:srgbClr val="111111"/>
                </a:solidFill>
                <a:latin typeface="Arial" pitchFamily="34" charset="0"/>
                <a:ea typeface="Arial" pitchFamily="34" charset="-122"/>
                <a:cs typeface="Arial" pitchFamily="34" charset="-120"/>
              </a:rPr>
              <a:t>sobreimpulso</a:t>
            </a:r>
            <a:r>
              <a:rPr lang="es-ES" dirty="0">
                <a:solidFill>
                  <a:srgbClr val="111111"/>
                </a:solidFill>
                <a:latin typeface="Arial" pitchFamily="34" charset="0"/>
                <a:ea typeface="Arial" pitchFamily="34" charset="-122"/>
                <a:cs typeface="Arial" pitchFamily="34" charset="-120"/>
              </a:rPr>
              <a:t> máximo de 12 % y un error en estado estacionario menor al 0.5 %. Estos valores son comparables con trabajos de referencia, aunque el uso de control discreto introduce un retardo de muestreo que puede incrementar ligeramente el </a:t>
            </a:r>
            <a:r>
              <a:rPr lang="es-ES" dirty="0" err="1">
                <a:solidFill>
                  <a:srgbClr val="111111"/>
                </a:solidFill>
                <a:latin typeface="Arial" pitchFamily="34" charset="0"/>
                <a:ea typeface="Arial" pitchFamily="34" charset="-122"/>
                <a:cs typeface="Arial" pitchFamily="34" charset="-120"/>
              </a:rPr>
              <a:t>sobreimpulso</a:t>
            </a:r>
            <a:r>
              <a:rPr lang="es-ES" dirty="0">
                <a:solidFill>
                  <a:srgbClr val="111111"/>
                </a:solidFill>
                <a:latin typeface="Arial" pitchFamily="34" charset="0"/>
                <a:ea typeface="Arial" pitchFamily="34" charset="-122"/>
                <a:cs typeface="Arial" pitchFamily="34" charset="-120"/>
              </a:rPr>
              <a:t>.</a:t>
            </a:r>
            <a:endParaRPr lang="en-US" dirty="0"/>
          </a:p>
        </p:txBody>
      </p:sp>
      <p:sp>
        <p:nvSpPr>
          <p:cNvPr id="54" name="Shape 48"/>
          <p:cNvSpPr/>
          <p:nvPr/>
        </p:nvSpPr>
        <p:spPr>
          <a:xfrm>
            <a:off x="8869680" y="8915400"/>
            <a:ext cx="2148840" cy="822960"/>
          </a:xfrm>
          <a:prstGeom prst="rect">
            <a:avLst/>
          </a:prstGeom>
          <a:solidFill>
            <a:srgbClr val="EAF3F8"/>
          </a:solidFill>
          <a:ln w="8890">
            <a:solidFill>
              <a:srgbClr val="2B6C91"/>
            </a:solidFill>
            <a:prstDash val="solid"/>
          </a:ln>
        </p:spPr>
        <p:txBody>
          <a:bodyPr/>
          <a:lstStyle/>
          <a:p>
            <a:endParaRPr lang="es-MX" sz="4800"/>
          </a:p>
        </p:txBody>
      </p:sp>
      <p:sp>
        <p:nvSpPr>
          <p:cNvPr id="55" name="Text 49"/>
          <p:cNvSpPr/>
          <p:nvPr/>
        </p:nvSpPr>
        <p:spPr>
          <a:xfrm>
            <a:off x="8942832" y="9025128"/>
            <a:ext cx="2002536" cy="256032"/>
          </a:xfrm>
          <a:prstGeom prst="rect">
            <a:avLst/>
          </a:prstGeom>
          <a:noFill/>
          <a:ln/>
        </p:spPr>
        <p:txBody>
          <a:bodyPr wrap="square" rtlCol="0" anchor="ctr"/>
          <a:lstStyle/>
          <a:p>
            <a:pPr marL="0" indent="0" algn="ctr">
              <a:buNone/>
            </a:pPr>
            <a:r>
              <a:rPr lang="en-US" sz="2400" b="1" dirty="0">
                <a:solidFill>
                  <a:srgbClr val="1F5D7E"/>
                </a:solidFill>
                <a:latin typeface="Arial" pitchFamily="34" charset="0"/>
                <a:ea typeface="Arial" pitchFamily="34" charset="-122"/>
                <a:cs typeface="Arial" pitchFamily="34" charset="-120"/>
              </a:rPr>
              <a:t>2.8 s</a:t>
            </a:r>
            <a:endParaRPr lang="en-US" sz="2400" dirty="0"/>
          </a:p>
        </p:txBody>
      </p:sp>
      <p:sp>
        <p:nvSpPr>
          <p:cNvPr id="56" name="Text 50"/>
          <p:cNvSpPr/>
          <p:nvPr/>
        </p:nvSpPr>
        <p:spPr>
          <a:xfrm>
            <a:off x="8942832" y="9354312"/>
            <a:ext cx="2002536" cy="219456"/>
          </a:xfrm>
          <a:prstGeom prst="rect">
            <a:avLst/>
          </a:prstGeom>
          <a:noFill/>
          <a:ln/>
        </p:spPr>
        <p:txBody>
          <a:bodyPr wrap="square" lIns="127" tIns="127" rIns="127" bIns="127" rtlCol="0" anchor="ctr">
            <a:noAutofit/>
          </a:bodyPr>
          <a:lstStyle/>
          <a:p>
            <a:pPr marL="0" indent="0" algn="ctr">
              <a:buNone/>
            </a:pPr>
            <a:r>
              <a:rPr lang="en-US" sz="1600" dirty="0">
                <a:solidFill>
                  <a:srgbClr val="404040"/>
                </a:solidFill>
                <a:latin typeface="Arial" pitchFamily="34" charset="0"/>
                <a:ea typeface="Arial" pitchFamily="34" charset="-122"/>
                <a:cs typeface="Arial" pitchFamily="34" charset="-120"/>
              </a:rPr>
              <a:t>tiempo de establecimiento</a:t>
            </a:r>
            <a:endParaRPr lang="en-US" sz="1600" dirty="0"/>
          </a:p>
        </p:txBody>
      </p:sp>
      <p:sp>
        <p:nvSpPr>
          <p:cNvPr id="57" name="Shape 51"/>
          <p:cNvSpPr/>
          <p:nvPr/>
        </p:nvSpPr>
        <p:spPr>
          <a:xfrm>
            <a:off x="11219688" y="8915400"/>
            <a:ext cx="2148840" cy="822960"/>
          </a:xfrm>
          <a:prstGeom prst="rect">
            <a:avLst/>
          </a:prstGeom>
          <a:solidFill>
            <a:srgbClr val="EAF3F8"/>
          </a:solidFill>
          <a:ln w="8890">
            <a:solidFill>
              <a:srgbClr val="2B6C91"/>
            </a:solidFill>
            <a:prstDash val="solid"/>
          </a:ln>
        </p:spPr>
        <p:txBody>
          <a:bodyPr/>
          <a:lstStyle/>
          <a:p>
            <a:endParaRPr lang="es-MX" sz="4800"/>
          </a:p>
        </p:txBody>
      </p:sp>
      <p:sp>
        <p:nvSpPr>
          <p:cNvPr id="58" name="Text 52"/>
          <p:cNvSpPr/>
          <p:nvPr/>
        </p:nvSpPr>
        <p:spPr>
          <a:xfrm>
            <a:off x="11292840" y="9025128"/>
            <a:ext cx="2002536" cy="256032"/>
          </a:xfrm>
          <a:prstGeom prst="rect">
            <a:avLst/>
          </a:prstGeom>
          <a:noFill/>
          <a:ln/>
        </p:spPr>
        <p:txBody>
          <a:bodyPr wrap="square" rtlCol="0" anchor="ctr"/>
          <a:lstStyle/>
          <a:p>
            <a:pPr marL="0" indent="0" algn="ctr">
              <a:buNone/>
            </a:pPr>
            <a:r>
              <a:rPr lang="en-US" sz="2400" b="1" dirty="0">
                <a:solidFill>
                  <a:srgbClr val="1F5D7E"/>
                </a:solidFill>
                <a:latin typeface="Arial" pitchFamily="34" charset="0"/>
                <a:ea typeface="Arial" pitchFamily="34" charset="-122"/>
                <a:cs typeface="Arial" pitchFamily="34" charset="-120"/>
              </a:rPr>
              <a:t>12 %</a:t>
            </a:r>
            <a:endParaRPr lang="en-US" sz="2400" dirty="0"/>
          </a:p>
        </p:txBody>
      </p:sp>
      <p:sp>
        <p:nvSpPr>
          <p:cNvPr id="59" name="Text 53"/>
          <p:cNvSpPr/>
          <p:nvPr/>
        </p:nvSpPr>
        <p:spPr>
          <a:xfrm>
            <a:off x="11292840" y="9354312"/>
            <a:ext cx="2002536" cy="219456"/>
          </a:xfrm>
          <a:prstGeom prst="rect">
            <a:avLst/>
          </a:prstGeom>
          <a:noFill/>
          <a:ln/>
        </p:spPr>
        <p:txBody>
          <a:bodyPr wrap="square" lIns="127" tIns="127" rIns="127" bIns="127" rtlCol="0" anchor="ctr">
            <a:noAutofit/>
          </a:bodyPr>
          <a:lstStyle/>
          <a:p>
            <a:pPr marL="0" indent="0" algn="ctr">
              <a:buNone/>
            </a:pPr>
            <a:r>
              <a:rPr lang="en-US" sz="1600" dirty="0">
                <a:solidFill>
                  <a:srgbClr val="404040"/>
                </a:solidFill>
                <a:latin typeface="Arial" pitchFamily="34" charset="0"/>
                <a:ea typeface="Arial" pitchFamily="34" charset="-122"/>
                <a:cs typeface="Arial" pitchFamily="34" charset="-120"/>
              </a:rPr>
              <a:t>sobreimpulso máximo</a:t>
            </a:r>
            <a:endParaRPr lang="en-US" sz="1600" dirty="0"/>
          </a:p>
        </p:txBody>
      </p:sp>
      <p:sp>
        <p:nvSpPr>
          <p:cNvPr id="60" name="Shape 54"/>
          <p:cNvSpPr/>
          <p:nvPr/>
        </p:nvSpPr>
        <p:spPr>
          <a:xfrm>
            <a:off x="13569696" y="8915400"/>
            <a:ext cx="2148840" cy="822960"/>
          </a:xfrm>
          <a:prstGeom prst="rect">
            <a:avLst/>
          </a:prstGeom>
          <a:solidFill>
            <a:srgbClr val="EAF3F8"/>
          </a:solidFill>
          <a:ln w="8890">
            <a:solidFill>
              <a:srgbClr val="2B6C91"/>
            </a:solidFill>
            <a:prstDash val="solid"/>
          </a:ln>
        </p:spPr>
        <p:txBody>
          <a:bodyPr/>
          <a:lstStyle/>
          <a:p>
            <a:endParaRPr lang="es-MX" sz="4800"/>
          </a:p>
        </p:txBody>
      </p:sp>
      <p:sp>
        <p:nvSpPr>
          <p:cNvPr id="61" name="Text 55"/>
          <p:cNvSpPr/>
          <p:nvPr/>
        </p:nvSpPr>
        <p:spPr>
          <a:xfrm>
            <a:off x="13642848" y="9025128"/>
            <a:ext cx="2002536" cy="256032"/>
          </a:xfrm>
          <a:prstGeom prst="rect">
            <a:avLst/>
          </a:prstGeom>
          <a:noFill/>
          <a:ln/>
        </p:spPr>
        <p:txBody>
          <a:bodyPr wrap="square" rtlCol="0" anchor="ctr"/>
          <a:lstStyle/>
          <a:p>
            <a:pPr marL="0" indent="0" algn="ctr">
              <a:buNone/>
            </a:pPr>
            <a:r>
              <a:rPr lang="en-US" sz="2400" b="1" dirty="0">
                <a:solidFill>
                  <a:srgbClr val="1F5D7E"/>
                </a:solidFill>
                <a:latin typeface="Arial" pitchFamily="34" charset="0"/>
                <a:ea typeface="Arial" pitchFamily="34" charset="-122"/>
                <a:cs typeface="Arial" pitchFamily="34" charset="-120"/>
              </a:rPr>
              <a:t>&lt; 0.5 %</a:t>
            </a:r>
            <a:endParaRPr lang="en-US" sz="2400" dirty="0"/>
          </a:p>
        </p:txBody>
      </p:sp>
      <p:sp>
        <p:nvSpPr>
          <p:cNvPr id="62" name="Text 56"/>
          <p:cNvSpPr/>
          <p:nvPr/>
        </p:nvSpPr>
        <p:spPr>
          <a:xfrm>
            <a:off x="13642848" y="9354312"/>
            <a:ext cx="2002536" cy="219456"/>
          </a:xfrm>
          <a:prstGeom prst="rect">
            <a:avLst/>
          </a:prstGeom>
          <a:noFill/>
          <a:ln/>
        </p:spPr>
        <p:txBody>
          <a:bodyPr wrap="square" lIns="127" tIns="127" rIns="127" bIns="127" rtlCol="0" anchor="ctr">
            <a:noAutofit/>
          </a:bodyPr>
          <a:lstStyle/>
          <a:p>
            <a:pPr marL="0" indent="0" algn="ctr">
              <a:buNone/>
            </a:pPr>
            <a:r>
              <a:rPr lang="en-US" sz="1600" dirty="0">
                <a:solidFill>
                  <a:srgbClr val="404040"/>
                </a:solidFill>
                <a:latin typeface="Arial" pitchFamily="34" charset="0"/>
                <a:ea typeface="Arial" pitchFamily="34" charset="-122"/>
                <a:cs typeface="Arial" pitchFamily="34" charset="-120"/>
              </a:rPr>
              <a:t>error estacionario</a:t>
            </a:r>
            <a:endParaRPr lang="en-US" sz="1600" dirty="0"/>
          </a:p>
        </p:txBody>
      </p:sp>
      <p:sp>
        <p:nvSpPr>
          <p:cNvPr id="63" name="Shape 57"/>
          <p:cNvSpPr/>
          <p:nvPr/>
        </p:nvSpPr>
        <p:spPr>
          <a:xfrm>
            <a:off x="15919704" y="8915400"/>
            <a:ext cx="2148840" cy="822960"/>
          </a:xfrm>
          <a:prstGeom prst="rect">
            <a:avLst/>
          </a:prstGeom>
          <a:solidFill>
            <a:srgbClr val="EAF3F8"/>
          </a:solidFill>
          <a:ln w="8890">
            <a:solidFill>
              <a:srgbClr val="2B6C91"/>
            </a:solidFill>
            <a:prstDash val="solid"/>
          </a:ln>
        </p:spPr>
        <p:txBody>
          <a:bodyPr/>
          <a:lstStyle/>
          <a:p>
            <a:endParaRPr lang="es-MX" sz="4800"/>
          </a:p>
        </p:txBody>
      </p:sp>
      <p:sp>
        <p:nvSpPr>
          <p:cNvPr id="64" name="Text 58"/>
          <p:cNvSpPr/>
          <p:nvPr/>
        </p:nvSpPr>
        <p:spPr>
          <a:xfrm>
            <a:off x="15992856" y="9025128"/>
            <a:ext cx="2002536" cy="256032"/>
          </a:xfrm>
          <a:prstGeom prst="rect">
            <a:avLst/>
          </a:prstGeom>
          <a:noFill/>
          <a:ln/>
        </p:spPr>
        <p:txBody>
          <a:bodyPr wrap="square" rtlCol="0" anchor="ctr"/>
          <a:lstStyle/>
          <a:p>
            <a:pPr marL="0" indent="0" algn="ctr">
              <a:buNone/>
            </a:pPr>
            <a:r>
              <a:rPr lang="en-US" sz="2400" b="1" dirty="0">
                <a:solidFill>
                  <a:srgbClr val="1F5D7E"/>
                </a:solidFill>
                <a:latin typeface="Arial" pitchFamily="34" charset="0"/>
                <a:ea typeface="Arial" pitchFamily="34" charset="-122"/>
                <a:cs typeface="Arial" pitchFamily="34" charset="-120"/>
              </a:rPr>
              <a:t>0–45 V</a:t>
            </a:r>
            <a:endParaRPr lang="en-US" sz="2400" dirty="0"/>
          </a:p>
        </p:txBody>
      </p:sp>
      <p:sp>
        <p:nvSpPr>
          <p:cNvPr id="65" name="Text 59"/>
          <p:cNvSpPr/>
          <p:nvPr/>
        </p:nvSpPr>
        <p:spPr>
          <a:xfrm>
            <a:off x="15992856" y="9354312"/>
            <a:ext cx="2002536" cy="219456"/>
          </a:xfrm>
          <a:prstGeom prst="rect">
            <a:avLst/>
          </a:prstGeom>
          <a:noFill/>
          <a:ln/>
        </p:spPr>
        <p:txBody>
          <a:bodyPr wrap="square" lIns="127" tIns="127" rIns="127" bIns="127" rtlCol="0" anchor="ctr">
            <a:noAutofit/>
          </a:bodyPr>
          <a:lstStyle/>
          <a:p>
            <a:pPr marL="0" indent="0" algn="ctr">
              <a:buNone/>
            </a:pPr>
            <a:r>
              <a:rPr lang="en-US" sz="1600" dirty="0">
                <a:solidFill>
                  <a:srgbClr val="404040"/>
                </a:solidFill>
                <a:latin typeface="Arial" pitchFamily="34" charset="0"/>
                <a:ea typeface="Arial" pitchFamily="34" charset="-122"/>
                <a:cs typeface="Arial" pitchFamily="34" charset="-120"/>
              </a:rPr>
              <a:t>driver DRV8825</a:t>
            </a:r>
            <a:endParaRPr lang="en-US" sz="1600" dirty="0"/>
          </a:p>
        </p:txBody>
      </p:sp>
      <p:sp>
        <p:nvSpPr>
          <p:cNvPr id="66" name="Shape 60"/>
          <p:cNvSpPr/>
          <p:nvPr/>
        </p:nvSpPr>
        <p:spPr>
          <a:xfrm>
            <a:off x="18269712" y="8915400"/>
            <a:ext cx="2148840" cy="822960"/>
          </a:xfrm>
          <a:prstGeom prst="rect">
            <a:avLst/>
          </a:prstGeom>
          <a:solidFill>
            <a:srgbClr val="EAF3F8"/>
          </a:solidFill>
          <a:ln w="8890">
            <a:solidFill>
              <a:srgbClr val="2B6C91"/>
            </a:solidFill>
            <a:prstDash val="solid"/>
          </a:ln>
        </p:spPr>
        <p:txBody>
          <a:bodyPr/>
          <a:lstStyle/>
          <a:p>
            <a:endParaRPr lang="es-MX" sz="4800"/>
          </a:p>
        </p:txBody>
      </p:sp>
      <p:sp>
        <p:nvSpPr>
          <p:cNvPr id="67" name="Text 61"/>
          <p:cNvSpPr/>
          <p:nvPr/>
        </p:nvSpPr>
        <p:spPr>
          <a:xfrm>
            <a:off x="18342864" y="9025128"/>
            <a:ext cx="2002536" cy="256032"/>
          </a:xfrm>
          <a:prstGeom prst="rect">
            <a:avLst/>
          </a:prstGeom>
          <a:noFill/>
          <a:ln/>
        </p:spPr>
        <p:txBody>
          <a:bodyPr wrap="square" rtlCol="0" anchor="ctr"/>
          <a:lstStyle/>
          <a:p>
            <a:pPr marL="0" indent="0" algn="ctr">
              <a:buNone/>
            </a:pPr>
            <a:r>
              <a:rPr lang="en-US" sz="2400" b="1" dirty="0">
                <a:solidFill>
                  <a:srgbClr val="1F5D7E"/>
                </a:solidFill>
                <a:latin typeface="Arial" pitchFamily="34" charset="0"/>
                <a:ea typeface="Arial" pitchFamily="34" charset="-122"/>
                <a:cs typeface="Arial" pitchFamily="34" charset="-120"/>
              </a:rPr>
              <a:t>2.5 A</a:t>
            </a:r>
            <a:endParaRPr lang="en-US" sz="2400" dirty="0"/>
          </a:p>
        </p:txBody>
      </p:sp>
      <p:sp>
        <p:nvSpPr>
          <p:cNvPr id="68" name="Text 62"/>
          <p:cNvSpPr/>
          <p:nvPr/>
        </p:nvSpPr>
        <p:spPr>
          <a:xfrm>
            <a:off x="18342864" y="9354312"/>
            <a:ext cx="2002536" cy="219456"/>
          </a:xfrm>
          <a:prstGeom prst="rect">
            <a:avLst/>
          </a:prstGeom>
          <a:noFill/>
          <a:ln/>
        </p:spPr>
        <p:txBody>
          <a:bodyPr wrap="square" lIns="127" tIns="127" rIns="127" bIns="127" rtlCol="0" anchor="ctr">
            <a:noAutofit/>
          </a:bodyPr>
          <a:lstStyle/>
          <a:p>
            <a:pPr marL="0" indent="0" algn="ctr">
              <a:buNone/>
            </a:pPr>
            <a:r>
              <a:rPr lang="en-US" sz="1600" dirty="0">
                <a:solidFill>
                  <a:srgbClr val="404040"/>
                </a:solidFill>
                <a:latin typeface="Arial" pitchFamily="34" charset="0"/>
                <a:ea typeface="Arial" pitchFamily="34" charset="-122"/>
                <a:cs typeface="Arial" pitchFamily="34" charset="-120"/>
              </a:rPr>
              <a:t>corriente nominal</a:t>
            </a:r>
            <a:endParaRPr lang="en-US" sz="1600" dirty="0"/>
          </a:p>
        </p:txBody>
      </p:sp>
      <p:sp>
        <p:nvSpPr>
          <p:cNvPr id="69" name="Text 63"/>
          <p:cNvSpPr/>
          <p:nvPr/>
        </p:nvSpPr>
        <p:spPr>
          <a:xfrm>
            <a:off x="8869680" y="10131552"/>
            <a:ext cx="11384280" cy="219456"/>
          </a:xfrm>
          <a:prstGeom prst="rect">
            <a:avLst/>
          </a:prstGeom>
          <a:noFill/>
          <a:ln/>
        </p:spPr>
        <p:txBody>
          <a:bodyPr wrap="square" lIns="0" tIns="0" rIns="0" bIns="0" rtlCol="0" anchor="ctr"/>
          <a:lstStyle/>
          <a:p>
            <a:pPr marL="0" indent="0">
              <a:buNone/>
            </a:pPr>
            <a:r>
              <a:rPr lang="en-US" sz="1600" dirty="0">
                <a:solidFill>
                  <a:srgbClr val="111111"/>
                </a:solidFill>
                <a:latin typeface="Arial" pitchFamily="34" charset="0"/>
                <a:ea typeface="Arial" pitchFamily="34" charset="-122"/>
                <a:cs typeface="Arial" pitchFamily="34" charset="-120"/>
              </a:rPr>
              <a:t>Tabla 1. Desempeño del controlador PID discreto.</a:t>
            </a:r>
            <a:endParaRPr lang="en-US" sz="1600" dirty="0"/>
          </a:p>
        </p:txBody>
      </p:sp>
      <p:pic>
        <p:nvPicPr>
          <p:cNvPr id="70" name="Image 4" descr="/mnt/data/table_pid.png"/>
          <p:cNvPicPr>
            <a:picLocks noChangeAspect="1"/>
          </p:cNvPicPr>
          <p:nvPr/>
        </p:nvPicPr>
        <p:blipFill>
          <a:blip r:embed="rId5"/>
          <a:stretch>
            <a:fillRect/>
          </a:stretch>
        </p:blipFill>
        <p:spPr>
          <a:xfrm>
            <a:off x="10131552" y="10442448"/>
            <a:ext cx="9798710" cy="2578608"/>
          </a:xfrm>
          <a:prstGeom prst="rect">
            <a:avLst/>
          </a:prstGeom>
        </p:spPr>
      </p:pic>
      <p:sp>
        <p:nvSpPr>
          <p:cNvPr id="71" name="Shape 64"/>
          <p:cNvSpPr/>
          <p:nvPr/>
        </p:nvSpPr>
        <p:spPr>
          <a:xfrm>
            <a:off x="8366760" y="13185648"/>
            <a:ext cx="12390120" cy="0"/>
          </a:xfrm>
          <a:prstGeom prst="line">
            <a:avLst/>
          </a:prstGeom>
          <a:noFill/>
          <a:ln w="11430">
            <a:solidFill>
              <a:srgbClr val="000000"/>
            </a:solidFill>
            <a:prstDash val="solid"/>
          </a:ln>
        </p:spPr>
        <p:txBody>
          <a:bodyPr/>
          <a:lstStyle/>
          <a:p>
            <a:endParaRPr lang="es-MX" sz="4800"/>
          </a:p>
        </p:txBody>
      </p:sp>
      <p:pic>
        <p:nvPicPr>
          <p:cNvPr id="73" name="Image 6" descr="/mnt/data/step_response.png"/>
          <p:cNvPicPr>
            <a:picLocks noChangeAspect="1"/>
          </p:cNvPicPr>
          <p:nvPr/>
        </p:nvPicPr>
        <p:blipFill>
          <a:blip r:embed="rId6"/>
          <a:stretch>
            <a:fillRect/>
          </a:stretch>
        </p:blipFill>
        <p:spPr>
          <a:xfrm>
            <a:off x="14813280" y="13930604"/>
            <a:ext cx="5440680" cy="2990649"/>
          </a:xfrm>
          <a:prstGeom prst="rect">
            <a:avLst/>
          </a:prstGeom>
        </p:spPr>
      </p:pic>
      <p:sp>
        <p:nvSpPr>
          <p:cNvPr id="74" name="Text 65"/>
          <p:cNvSpPr/>
          <p:nvPr/>
        </p:nvSpPr>
        <p:spPr>
          <a:xfrm>
            <a:off x="9052560" y="17483328"/>
            <a:ext cx="5257800" cy="566928"/>
          </a:xfrm>
          <a:prstGeom prst="rect">
            <a:avLst/>
          </a:prstGeom>
          <a:noFill/>
          <a:ln/>
        </p:spPr>
        <p:txBody>
          <a:bodyPr wrap="square" lIns="254" tIns="254" rIns="254" bIns="254" rtlCol="0" anchor="t">
            <a:normAutofit/>
          </a:bodyPr>
          <a:lstStyle/>
          <a:p>
            <a:pPr marL="0" indent="0" algn="l">
              <a:buNone/>
            </a:pPr>
            <a:r>
              <a:rPr lang="en-US" sz="1100" dirty="0">
                <a:solidFill>
                  <a:srgbClr val="111111"/>
                </a:solidFill>
                <a:latin typeface="Arial" pitchFamily="34" charset="0"/>
                <a:ea typeface="Arial" pitchFamily="34" charset="-122"/>
                <a:cs typeface="Arial" pitchFamily="34" charset="-120"/>
              </a:rPr>
              <a:t>Fig. 1. Render conceptual del prototipo Ball and Beam: barra articulada, motor NEMA 17 y sensor de distancia.</a:t>
            </a:r>
            <a:endParaRPr lang="en-US" sz="1100" dirty="0"/>
          </a:p>
        </p:txBody>
      </p:sp>
      <p:sp>
        <p:nvSpPr>
          <p:cNvPr id="75" name="Text 66"/>
          <p:cNvSpPr/>
          <p:nvPr/>
        </p:nvSpPr>
        <p:spPr>
          <a:xfrm>
            <a:off x="14813280" y="17483328"/>
            <a:ext cx="5394960" cy="566928"/>
          </a:xfrm>
          <a:prstGeom prst="rect">
            <a:avLst/>
          </a:prstGeom>
          <a:noFill/>
          <a:ln/>
        </p:spPr>
        <p:txBody>
          <a:bodyPr wrap="square" lIns="254" tIns="254" rIns="254" bIns="254" rtlCol="0" anchor="t">
            <a:normAutofit/>
          </a:bodyPr>
          <a:lstStyle/>
          <a:p>
            <a:pPr marL="0" indent="0" algn="l">
              <a:buNone/>
            </a:pPr>
            <a:r>
              <a:rPr lang="en-US" sz="1100" dirty="0">
                <a:solidFill>
                  <a:srgbClr val="111111"/>
                </a:solidFill>
                <a:latin typeface="Arial" pitchFamily="34" charset="0"/>
                <a:ea typeface="Arial" pitchFamily="34" charset="-122"/>
                <a:cs typeface="Arial" pitchFamily="34" charset="-120"/>
              </a:rPr>
              <a:t>Fig. 2. Respuesta escalón simulada del controlador PID discreto: ts ≈ 2.8 s, OS ≈ 12 %.</a:t>
            </a:r>
            <a:endParaRPr lang="en-US" sz="1100" dirty="0"/>
          </a:p>
        </p:txBody>
      </p:sp>
      <p:sp>
        <p:nvSpPr>
          <p:cNvPr id="76" name="Text 67"/>
          <p:cNvSpPr/>
          <p:nvPr/>
        </p:nvSpPr>
        <p:spPr>
          <a:xfrm>
            <a:off x="8869680" y="18470880"/>
            <a:ext cx="11384280" cy="1234440"/>
          </a:xfrm>
          <a:prstGeom prst="rect">
            <a:avLst/>
          </a:prstGeom>
          <a:noFill/>
          <a:ln/>
        </p:spPr>
        <p:txBody>
          <a:bodyPr wrap="square" lIns="381" tIns="381" rIns="381" bIns="381" rtlCol="0" anchor="t">
            <a:normAutofit/>
          </a:bodyPr>
          <a:lstStyle/>
          <a:p>
            <a:pPr marL="0" indent="0" algn="l">
              <a:buNone/>
            </a:pPr>
            <a:r>
              <a:rPr lang="en-US" dirty="0">
                <a:solidFill>
                  <a:srgbClr val="111111"/>
                </a:solidFill>
                <a:latin typeface="Arial" pitchFamily="34" charset="0"/>
                <a:ea typeface="Arial" pitchFamily="34" charset="-122"/>
                <a:cs typeface="Arial" pitchFamily="34" charset="-120"/>
              </a:rPr>
              <a:t>La señal de control permanece dentro del rango operativo del driver DRV8825 durante el transitorio. Las pruebas con el prototipo real permitirán caracterizar no linealidades y ajustar el controlador en la plataforma embebida.</a:t>
            </a:r>
            <a:endParaRPr lang="en-US" dirty="0"/>
          </a:p>
        </p:txBody>
      </p:sp>
      <p:sp>
        <p:nvSpPr>
          <p:cNvPr id="77" name="Shape 68"/>
          <p:cNvSpPr/>
          <p:nvPr/>
        </p:nvSpPr>
        <p:spPr>
          <a:xfrm>
            <a:off x="8366760" y="20866608"/>
            <a:ext cx="12390120" cy="3794760"/>
          </a:xfrm>
          <a:prstGeom prst="rect">
            <a:avLst/>
          </a:prstGeom>
          <a:solidFill>
            <a:srgbClr val="FFFFFF">
              <a:alpha val="0"/>
            </a:srgbClr>
          </a:solidFill>
          <a:ln w="14605">
            <a:solidFill>
              <a:srgbClr val="000000"/>
            </a:solidFill>
            <a:prstDash val="solid"/>
          </a:ln>
        </p:spPr>
        <p:txBody>
          <a:bodyPr/>
          <a:lstStyle/>
          <a:p>
            <a:endParaRPr lang="es-MX" sz="4000"/>
          </a:p>
        </p:txBody>
      </p:sp>
      <p:sp>
        <p:nvSpPr>
          <p:cNvPr id="78" name="Text 69"/>
          <p:cNvSpPr/>
          <p:nvPr/>
        </p:nvSpPr>
        <p:spPr>
          <a:xfrm>
            <a:off x="8778240" y="21305520"/>
            <a:ext cx="11567160" cy="384048"/>
          </a:xfrm>
          <a:prstGeom prst="rect">
            <a:avLst/>
          </a:prstGeom>
          <a:noFill/>
          <a:ln/>
        </p:spPr>
        <p:txBody>
          <a:bodyPr wrap="square" lIns="0" tIns="0" rIns="0" bIns="0" rtlCol="0" anchor="ctr"/>
          <a:lstStyle/>
          <a:p>
            <a:pPr marL="0" indent="0">
              <a:buNone/>
            </a:pPr>
            <a:r>
              <a:rPr lang="en-US" sz="2800" b="1" dirty="0">
                <a:solidFill>
                  <a:srgbClr val="111111"/>
                </a:solidFill>
                <a:latin typeface="Arial" pitchFamily="34" charset="0"/>
                <a:ea typeface="Arial" pitchFamily="34" charset="-122"/>
                <a:cs typeface="Arial" pitchFamily="34" charset="-120"/>
              </a:rPr>
              <a:t>Conclusiones</a:t>
            </a:r>
            <a:endParaRPr lang="en-US" sz="2800" dirty="0"/>
          </a:p>
        </p:txBody>
      </p:sp>
      <p:sp>
        <p:nvSpPr>
          <p:cNvPr id="79" name="Text 70"/>
          <p:cNvSpPr/>
          <p:nvPr/>
        </p:nvSpPr>
        <p:spPr>
          <a:xfrm>
            <a:off x="8869680" y="21808439"/>
            <a:ext cx="5623560" cy="2834639"/>
          </a:xfrm>
          <a:prstGeom prst="rect">
            <a:avLst/>
          </a:prstGeom>
          <a:noFill/>
          <a:ln/>
        </p:spPr>
        <p:txBody>
          <a:bodyPr wrap="square" lIns="381" tIns="381" rIns="381" bIns="381" rtlCol="0" anchor="t">
            <a:normAutofit/>
          </a:bodyPr>
          <a:lstStyle/>
          <a:p>
            <a:r>
              <a:rPr lang="es-ES" dirty="0">
                <a:solidFill>
                  <a:srgbClr val="111111"/>
                </a:solidFill>
                <a:latin typeface="Arial" pitchFamily="34" charset="0"/>
                <a:ea typeface="Arial" pitchFamily="34" charset="-122"/>
                <a:cs typeface="Arial" pitchFamily="34" charset="-120"/>
              </a:rPr>
              <a:t>Se obtuvo el modelo matemático del sistema Ball and Beam mediante Euler–Lagrange y se diseñó un controlador PID discreto con desempeño simulado comparable con la literatura: ts≈2.8 s, OS≈12 % y eₛₛ&lt;0.5 %..</a:t>
            </a:r>
            <a:endParaRPr lang="en-US" dirty="0"/>
          </a:p>
        </p:txBody>
      </p:sp>
      <p:sp>
        <p:nvSpPr>
          <p:cNvPr id="80" name="Text 71"/>
          <p:cNvSpPr/>
          <p:nvPr/>
        </p:nvSpPr>
        <p:spPr>
          <a:xfrm>
            <a:off x="14785848" y="21808440"/>
            <a:ext cx="5971032" cy="2450592"/>
          </a:xfrm>
          <a:prstGeom prst="rect">
            <a:avLst/>
          </a:prstGeom>
          <a:noFill/>
          <a:ln/>
        </p:spPr>
        <p:txBody>
          <a:bodyPr wrap="square" lIns="381" tIns="381" rIns="381" bIns="381" rtlCol="0" anchor="t">
            <a:normAutofit/>
          </a:bodyPr>
          <a:lstStyle/>
          <a:p>
            <a:r>
              <a:rPr lang="es-ES" dirty="0">
                <a:solidFill>
                  <a:srgbClr val="111111"/>
                </a:solidFill>
                <a:latin typeface="Arial" pitchFamily="34" charset="0"/>
                <a:ea typeface="Arial" pitchFamily="34" charset="-122"/>
                <a:cs typeface="Arial" pitchFamily="34" charset="-120"/>
              </a:rPr>
              <a:t>La plataforma propuesta es de bajo costo y replicable para el estudio de sistemas inestables y </a:t>
            </a:r>
            <a:r>
              <a:rPr lang="es-ES" dirty="0" err="1">
                <a:solidFill>
                  <a:srgbClr val="111111"/>
                </a:solidFill>
                <a:latin typeface="Arial" pitchFamily="34" charset="0"/>
                <a:ea typeface="Arial" pitchFamily="34" charset="-122"/>
                <a:cs typeface="Arial" pitchFamily="34" charset="-120"/>
              </a:rPr>
              <a:t>subactuados</a:t>
            </a:r>
            <a:r>
              <a:rPr lang="es-ES" dirty="0">
                <a:solidFill>
                  <a:srgbClr val="111111"/>
                </a:solidFill>
                <a:latin typeface="Arial" pitchFamily="34" charset="0"/>
                <a:ea typeface="Arial" pitchFamily="34" charset="-122"/>
                <a:cs typeface="Arial" pitchFamily="34" charset="-120"/>
              </a:rPr>
              <a:t>. Como limitaciones, los resultados corresponden únicamente a simulación del modelo linealizado y aún no incluyen fricción, zona muerta del sensor ni cuantificación del ADC, por lo que la validación experimental será el siguiente paso</a:t>
            </a:r>
            <a:endParaRPr lang="en-US" dirty="0"/>
          </a:p>
        </p:txBody>
      </p:sp>
      <p:sp>
        <p:nvSpPr>
          <p:cNvPr id="81" name="Shape 72"/>
          <p:cNvSpPr/>
          <p:nvPr/>
        </p:nvSpPr>
        <p:spPr>
          <a:xfrm>
            <a:off x="8366760" y="25100280"/>
            <a:ext cx="5989320" cy="3822192"/>
          </a:xfrm>
          <a:prstGeom prst="rect">
            <a:avLst/>
          </a:prstGeom>
          <a:solidFill>
            <a:srgbClr val="FFFFFF">
              <a:alpha val="0"/>
            </a:srgbClr>
          </a:solidFill>
          <a:ln w="14605">
            <a:solidFill>
              <a:srgbClr val="000000"/>
            </a:solidFill>
            <a:prstDash val="solid"/>
          </a:ln>
        </p:spPr>
        <p:txBody>
          <a:bodyPr/>
          <a:lstStyle/>
          <a:p>
            <a:endParaRPr lang="es-MX" sz="5400"/>
          </a:p>
        </p:txBody>
      </p:sp>
      <p:sp>
        <p:nvSpPr>
          <p:cNvPr id="82" name="Text 73"/>
          <p:cNvSpPr/>
          <p:nvPr/>
        </p:nvSpPr>
        <p:spPr>
          <a:xfrm>
            <a:off x="8778240" y="25383744"/>
            <a:ext cx="5166360" cy="384048"/>
          </a:xfrm>
          <a:prstGeom prst="rect">
            <a:avLst/>
          </a:prstGeom>
          <a:noFill/>
          <a:ln/>
        </p:spPr>
        <p:txBody>
          <a:bodyPr wrap="square" lIns="0" tIns="0" rIns="0" bIns="0" rtlCol="0" anchor="ctr"/>
          <a:lstStyle/>
          <a:p>
            <a:pPr marL="0" indent="0">
              <a:buNone/>
            </a:pPr>
            <a:r>
              <a:rPr lang="en-US" sz="3200" b="1" dirty="0">
                <a:solidFill>
                  <a:srgbClr val="111111"/>
                </a:solidFill>
                <a:latin typeface="Arial" pitchFamily="34" charset="0"/>
                <a:ea typeface="Arial" pitchFamily="34" charset="-122"/>
                <a:cs typeface="Arial" pitchFamily="34" charset="-120"/>
              </a:rPr>
              <a:t>Trabajo futuro</a:t>
            </a:r>
            <a:endParaRPr lang="en-US" sz="3200" dirty="0"/>
          </a:p>
        </p:txBody>
      </p:sp>
      <p:sp>
        <p:nvSpPr>
          <p:cNvPr id="83" name="Text 74"/>
          <p:cNvSpPr/>
          <p:nvPr/>
        </p:nvSpPr>
        <p:spPr>
          <a:xfrm>
            <a:off x="8805672" y="25904952"/>
            <a:ext cx="5481828" cy="2980944"/>
          </a:xfrm>
          <a:prstGeom prst="rect">
            <a:avLst/>
          </a:prstGeom>
          <a:noFill/>
          <a:ln/>
        </p:spPr>
        <p:txBody>
          <a:bodyPr wrap="square" lIns="381" tIns="381" rIns="381" bIns="381" rtlCol="0" anchor="t">
            <a:noAutofit/>
          </a:bodyPr>
          <a:lstStyle/>
          <a:p>
            <a:r>
              <a:rPr lang="es-ES" dirty="0">
                <a:solidFill>
                  <a:srgbClr val="111111"/>
                </a:solidFill>
                <a:latin typeface="Arial" pitchFamily="34" charset="0"/>
                <a:ea typeface="Arial" pitchFamily="34" charset="-122"/>
                <a:cs typeface="Arial" pitchFamily="34" charset="-120"/>
              </a:rPr>
              <a:t>▸ Integración completa del hardware y validación experimental.</a:t>
            </a:r>
          </a:p>
          <a:p>
            <a:r>
              <a:rPr lang="es-ES" dirty="0">
                <a:solidFill>
                  <a:srgbClr val="111111"/>
                </a:solidFill>
                <a:latin typeface="Arial" pitchFamily="34" charset="0"/>
                <a:ea typeface="Arial" pitchFamily="34" charset="-122"/>
                <a:cs typeface="Arial" pitchFamily="34" charset="-120"/>
              </a:rPr>
              <a:t>▸ Comparación entre la respuesta real y la respuesta simulada.</a:t>
            </a:r>
          </a:p>
          <a:p>
            <a:r>
              <a:rPr lang="es-ES" dirty="0">
                <a:solidFill>
                  <a:srgbClr val="111111"/>
                </a:solidFill>
                <a:latin typeface="Arial" pitchFamily="34" charset="0"/>
                <a:ea typeface="Arial" pitchFamily="34" charset="-122"/>
                <a:cs typeface="Arial" pitchFamily="34" charset="-120"/>
              </a:rPr>
              <a:t>▸ Implementación del PID discreto en una plataforma embebida.</a:t>
            </a:r>
          </a:p>
          <a:p>
            <a:r>
              <a:rPr lang="es-ES" dirty="0">
                <a:solidFill>
                  <a:srgbClr val="111111"/>
                </a:solidFill>
                <a:latin typeface="Arial" pitchFamily="34" charset="0"/>
                <a:ea typeface="Arial" pitchFamily="34" charset="-122"/>
                <a:cs typeface="Arial" pitchFamily="34" charset="-120"/>
              </a:rPr>
              <a:t>▸ Evaluación de estrategias de control avanzadas, como observador de </a:t>
            </a:r>
            <a:r>
              <a:rPr lang="es-ES" dirty="0" err="1">
                <a:solidFill>
                  <a:srgbClr val="111111"/>
                </a:solidFill>
                <a:latin typeface="Arial" pitchFamily="34" charset="0"/>
                <a:ea typeface="Arial" pitchFamily="34" charset="-122"/>
                <a:cs typeface="Arial" pitchFamily="34" charset="-120"/>
              </a:rPr>
              <a:t>Luenberger</a:t>
            </a:r>
            <a:r>
              <a:rPr lang="es-ES" dirty="0">
                <a:solidFill>
                  <a:srgbClr val="111111"/>
                </a:solidFill>
                <a:latin typeface="Arial" pitchFamily="34" charset="0"/>
                <a:ea typeface="Arial" pitchFamily="34" charset="-122"/>
                <a:cs typeface="Arial" pitchFamily="34" charset="-120"/>
              </a:rPr>
              <a:t> y control por modos deslizantes.</a:t>
            </a:r>
          </a:p>
          <a:p>
            <a:r>
              <a:rPr lang="es-ES" dirty="0">
                <a:solidFill>
                  <a:srgbClr val="111111"/>
                </a:solidFill>
                <a:latin typeface="Arial" pitchFamily="34" charset="0"/>
                <a:ea typeface="Arial" pitchFamily="34" charset="-122"/>
                <a:cs typeface="Arial" pitchFamily="34" charset="-120"/>
              </a:rPr>
              <a:t>▸ Documentación del prototipo para su replicación en laboratorios de control.</a:t>
            </a:r>
            <a:endParaRPr lang="en-US" dirty="0"/>
          </a:p>
        </p:txBody>
      </p:sp>
      <p:sp>
        <p:nvSpPr>
          <p:cNvPr id="84" name="Shape 75"/>
          <p:cNvSpPr/>
          <p:nvPr/>
        </p:nvSpPr>
        <p:spPr>
          <a:xfrm>
            <a:off x="14840712" y="25100280"/>
            <a:ext cx="5916168" cy="3822192"/>
          </a:xfrm>
          <a:prstGeom prst="rect">
            <a:avLst/>
          </a:prstGeom>
          <a:solidFill>
            <a:srgbClr val="FFFFFF">
              <a:alpha val="0"/>
            </a:srgbClr>
          </a:solidFill>
          <a:ln w="14605">
            <a:solidFill>
              <a:srgbClr val="000000"/>
            </a:solidFill>
            <a:prstDash val="solid"/>
          </a:ln>
        </p:spPr>
        <p:txBody>
          <a:bodyPr/>
          <a:lstStyle/>
          <a:p>
            <a:endParaRPr lang="es-MX" sz="5400"/>
          </a:p>
        </p:txBody>
      </p:sp>
      <p:sp>
        <p:nvSpPr>
          <p:cNvPr id="85" name="Text 76"/>
          <p:cNvSpPr/>
          <p:nvPr/>
        </p:nvSpPr>
        <p:spPr>
          <a:xfrm>
            <a:off x="15252192" y="25539192"/>
            <a:ext cx="5093208" cy="384048"/>
          </a:xfrm>
          <a:prstGeom prst="rect">
            <a:avLst/>
          </a:prstGeom>
          <a:noFill/>
          <a:ln/>
        </p:spPr>
        <p:txBody>
          <a:bodyPr wrap="square" lIns="0" tIns="0" rIns="0" bIns="0" rtlCol="0" anchor="ctr"/>
          <a:lstStyle/>
          <a:p>
            <a:pPr marL="0" indent="0">
              <a:buNone/>
            </a:pPr>
            <a:r>
              <a:rPr lang="en-US" sz="3200" b="1" dirty="0">
                <a:solidFill>
                  <a:srgbClr val="111111"/>
                </a:solidFill>
                <a:latin typeface="Arial" pitchFamily="34" charset="0"/>
                <a:ea typeface="Arial" pitchFamily="34" charset="-122"/>
                <a:cs typeface="Arial" pitchFamily="34" charset="-120"/>
              </a:rPr>
              <a:t>Agradecimientos</a:t>
            </a:r>
            <a:endParaRPr lang="en-US" sz="3200" dirty="0"/>
          </a:p>
        </p:txBody>
      </p:sp>
      <p:sp>
        <p:nvSpPr>
          <p:cNvPr id="86" name="Text 77"/>
          <p:cNvSpPr/>
          <p:nvPr/>
        </p:nvSpPr>
        <p:spPr>
          <a:xfrm>
            <a:off x="15279624" y="26042112"/>
            <a:ext cx="5074920" cy="2148840"/>
          </a:xfrm>
          <a:prstGeom prst="rect">
            <a:avLst/>
          </a:prstGeom>
          <a:noFill/>
          <a:ln/>
        </p:spPr>
        <p:txBody>
          <a:bodyPr wrap="square" lIns="381" tIns="381" rIns="381" bIns="381" rtlCol="0" anchor="t">
            <a:normAutofit/>
          </a:bodyPr>
          <a:lstStyle/>
          <a:p>
            <a:pPr marL="0" indent="0" algn="l">
              <a:buNone/>
            </a:pPr>
            <a:r>
              <a:rPr lang="en-US" dirty="0">
                <a:solidFill>
                  <a:srgbClr val="111111"/>
                </a:solidFill>
                <a:latin typeface="Arial" pitchFamily="34" charset="0"/>
                <a:ea typeface="Arial" pitchFamily="34" charset="-122"/>
                <a:cs typeface="Arial" pitchFamily="34" charset="-120"/>
              </a:rPr>
              <a:t>A la Universidad Iberoamericana Puebla y al Departamento de Ciencias e Ingenierías por el apoyo brindado al proyecto. Al profesor Oscar Martínez Fuentes por su asesoría académica y orientación técnica durante el desarrollo.</a:t>
            </a:r>
            <a:endParaRPr lang="en-US" dirty="0"/>
          </a:p>
        </p:txBody>
      </p:sp>
      <p:sp>
        <p:nvSpPr>
          <p:cNvPr id="87" name="Shape 78"/>
          <p:cNvSpPr/>
          <p:nvPr/>
        </p:nvSpPr>
        <p:spPr>
          <a:xfrm>
            <a:off x="0" y="30175200"/>
            <a:ext cx="21599957" cy="2221992"/>
          </a:xfrm>
          <a:prstGeom prst="rect">
            <a:avLst/>
          </a:prstGeom>
          <a:solidFill>
            <a:srgbClr val="EFEFF2"/>
          </a:solidFill>
          <a:ln w="12700">
            <a:solidFill>
              <a:srgbClr val="EFEFF2">
                <a:alpha val="0"/>
              </a:srgbClr>
            </a:solidFill>
            <a:prstDash val="solid"/>
          </a:ln>
        </p:spPr>
        <p:txBody>
          <a:bodyPr/>
          <a:lstStyle/>
          <a:p>
            <a:endParaRPr lang="es-MX" sz="4000"/>
          </a:p>
        </p:txBody>
      </p:sp>
      <p:pic>
        <p:nvPicPr>
          <p:cNvPr id="88" name="Image 7" descr="/mnt/data/orig_unzip/ppt/media/image-1-1.png"/>
          <p:cNvPicPr>
            <a:picLocks noChangeAspect="1"/>
          </p:cNvPicPr>
          <p:nvPr/>
        </p:nvPicPr>
        <p:blipFill>
          <a:blip r:embed="rId7"/>
          <a:stretch>
            <a:fillRect/>
          </a:stretch>
        </p:blipFill>
        <p:spPr>
          <a:xfrm>
            <a:off x="1084659" y="30595824"/>
            <a:ext cx="2997041" cy="1417320"/>
          </a:xfrm>
          <a:prstGeom prst="rect">
            <a:avLst/>
          </a:prstGeom>
        </p:spPr>
      </p:pic>
      <p:sp>
        <p:nvSpPr>
          <p:cNvPr id="89" name="Text 79"/>
          <p:cNvSpPr/>
          <p:nvPr/>
        </p:nvSpPr>
        <p:spPr>
          <a:xfrm>
            <a:off x="8229600" y="31016448"/>
            <a:ext cx="5212080" cy="502920"/>
          </a:xfrm>
          <a:prstGeom prst="rect">
            <a:avLst/>
          </a:prstGeom>
          <a:noFill/>
          <a:ln/>
        </p:spPr>
        <p:txBody>
          <a:bodyPr wrap="square" lIns="0" tIns="0" rIns="0" bIns="0" rtlCol="0" anchor="ctr"/>
          <a:lstStyle/>
          <a:p>
            <a:pPr marL="0" indent="0" algn="ctr">
              <a:buNone/>
            </a:pPr>
            <a:r>
              <a:rPr lang="en-US" sz="3200" dirty="0">
                <a:solidFill>
                  <a:srgbClr val="111111"/>
                </a:solidFill>
                <a:latin typeface="Arial" pitchFamily="34" charset="0"/>
                <a:ea typeface="Arial" pitchFamily="34" charset="-122"/>
                <a:cs typeface="Arial" pitchFamily="34" charset="-120"/>
              </a:rPr>
              <a:t>Primavera 2026</a:t>
            </a:r>
            <a:endParaRPr lang="en-US" sz="3200" dirty="0"/>
          </a:p>
        </p:txBody>
      </p:sp>
      <p:pic>
        <p:nvPicPr>
          <p:cNvPr id="90" name="Image 8" descr="/mnt/data/orig_unzip/ppt/media/image-1-3.png"/>
          <p:cNvPicPr>
            <a:picLocks noChangeAspect="1"/>
          </p:cNvPicPr>
          <p:nvPr/>
        </p:nvPicPr>
        <p:blipFill>
          <a:blip r:embed="rId8"/>
          <a:stretch>
            <a:fillRect/>
          </a:stretch>
        </p:blipFill>
        <p:spPr>
          <a:xfrm>
            <a:off x="14264640" y="30870954"/>
            <a:ext cx="3291840" cy="784764"/>
          </a:xfrm>
          <a:prstGeom prst="rect">
            <a:avLst/>
          </a:prstGeom>
        </p:spPr>
      </p:pic>
      <p:sp>
        <p:nvSpPr>
          <p:cNvPr id="91" name="Text 80"/>
          <p:cNvSpPr/>
          <p:nvPr/>
        </p:nvSpPr>
        <p:spPr>
          <a:xfrm>
            <a:off x="18288000" y="30632400"/>
            <a:ext cx="1965960" cy="1170432"/>
          </a:xfrm>
          <a:prstGeom prst="rect">
            <a:avLst/>
          </a:prstGeom>
          <a:noFill/>
          <a:ln/>
        </p:spPr>
        <p:txBody>
          <a:bodyPr wrap="square" lIns="0" tIns="0" rIns="0" bIns="0" rtlCol="0" anchor="ctr">
            <a:normAutofit/>
          </a:bodyPr>
          <a:lstStyle/>
          <a:p>
            <a:pPr marL="0" indent="0">
              <a:buNone/>
            </a:pPr>
            <a:r>
              <a:rPr lang="en-US" sz="2000" b="1" dirty="0">
                <a:solidFill>
                  <a:srgbClr val="111111"/>
                </a:solidFill>
                <a:latin typeface="Arial" pitchFamily="34" charset="0"/>
                <a:ea typeface="Arial" pitchFamily="34" charset="-122"/>
                <a:cs typeface="Arial" pitchFamily="34" charset="-120"/>
              </a:rPr>
              <a:t>MEJORAR</a:t>
            </a:r>
            <a:endParaRPr lang="en-US" sz="2000" dirty="0"/>
          </a:p>
          <a:p>
            <a:pPr marL="0" indent="0">
              <a:buNone/>
            </a:pPr>
            <a:r>
              <a:rPr lang="en-US" sz="2000" b="1" dirty="0">
                <a:solidFill>
                  <a:srgbClr val="111111"/>
                </a:solidFill>
                <a:latin typeface="Arial" pitchFamily="34" charset="0"/>
                <a:ea typeface="Arial" pitchFamily="34" charset="-122"/>
                <a:cs typeface="Arial" pitchFamily="34" charset="-120"/>
              </a:rPr>
              <a:t>EL MUNDO</a:t>
            </a:r>
            <a:endParaRPr lang="en-US" sz="2000" dirty="0"/>
          </a:p>
          <a:p>
            <a:pPr marL="0" indent="0">
              <a:buNone/>
            </a:pPr>
            <a:r>
              <a:rPr lang="en-US" sz="2000" b="1" dirty="0">
                <a:solidFill>
                  <a:srgbClr val="111111"/>
                </a:solidFill>
                <a:latin typeface="Arial" pitchFamily="34" charset="0"/>
                <a:ea typeface="Arial" pitchFamily="34" charset="-122"/>
                <a:cs typeface="Arial" pitchFamily="34" charset="-120"/>
              </a:rPr>
              <a:t>ES POSIBLE</a:t>
            </a:r>
            <a:endParaRPr lang="en-US" sz="2000" dirty="0"/>
          </a:p>
        </p:txBody>
      </p:sp>
      <p:sp>
        <p:nvSpPr>
          <p:cNvPr id="92" name="Text 81"/>
          <p:cNvSpPr/>
          <p:nvPr/>
        </p:nvSpPr>
        <p:spPr>
          <a:xfrm>
            <a:off x="10625328" y="29626560"/>
            <a:ext cx="365760" cy="182880"/>
          </a:xfrm>
          <a:prstGeom prst="rect">
            <a:avLst/>
          </a:prstGeom>
          <a:noFill/>
          <a:ln/>
        </p:spPr>
        <p:txBody>
          <a:bodyPr wrap="square" lIns="0" tIns="0" rIns="0" bIns="0" rtlCol="0" anchor="ctr"/>
          <a:lstStyle/>
          <a:p>
            <a:pPr marL="0" indent="0" algn="ctr">
              <a:buNone/>
            </a:pPr>
            <a:r>
              <a:rPr lang="en-US" dirty="0">
                <a:solidFill>
                  <a:srgbClr val="111111"/>
                </a:solidFill>
                <a:latin typeface="Arial" pitchFamily="34" charset="0"/>
                <a:ea typeface="Arial" pitchFamily="34" charset="-122"/>
                <a:cs typeface="Arial" pitchFamily="34" charset="-120"/>
              </a:rPr>
              <a:t>1</a:t>
            </a:r>
            <a:endParaRPr lang="en-US" dirty="0"/>
          </a:p>
        </p:txBody>
      </p:sp>
      <p:pic>
        <p:nvPicPr>
          <p:cNvPr id="93" name="EnsambleCAD" descr="Modelo CAD SolidWorks del sistema Ball and Beam" title="Ensamble Ball and Beam">
            <a:extLst>
              <a:ext uri="{FF2B5EF4-FFF2-40B4-BE49-F238E27FC236}">
                <a16:creationId xmlns:a16="http://schemas.microsoft.com/office/drawing/2014/main" id="{E2C9312D-E3A0-B5CD-3C4F-712331B693C7}"/>
              </a:ext>
            </a:extLst>
          </p:cNvPr>
          <p:cNvPicPr>
            <a:picLocks noChangeAspect="1"/>
          </p:cNvPicPr>
          <p:nvPr/>
        </p:nvPicPr>
        <p:blipFill>
          <a:blip r:embed="rId9"/>
          <a:srcRect/>
          <a:stretch>
            <a:fillRect/>
          </a:stretch>
        </p:blipFill>
        <p:spPr bwMode="auto">
          <a:xfrm>
            <a:off x="9052560" y="13701522"/>
            <a:ext cx="5440680" cy="322986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981</Words>
  <Application>Microsoft Office PowerPoint</Application>
  <PresentationFormat>Personalizado</PresentationFormat>
  <Paragraphs>69</Paragraphs>
  <Slides>1</Slides>
  <Notes>1</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vt:i4>
      </vt:variant>
    </vt:vector>
  </HeadingPairs>
  <TitlesOfParts>
    <vt:vector size="3" baseType="lpstr">
      <vt:lpstr>Arial</vt:lpstr>
      <vt:lpstr>Office Theme</vt:lpstr>
      <vt:lpstr>Presentación de PowerPoint</vt:lpstr>
    </vt:vector>
  </TitlesOfParts>
  <Company>Universidad Iberoamericana Puebla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 de Control Ball and Beam</dc:title>
  <dc:subject>Ball and Beam - Póster académico</dc:subject>
  <dc:creator>OpenAI</dc:creator>
  <cp:lastModifiedBy>ABUNDIZ CARBAJAL JESUS JUVENTINO</cp:lastModifiedBy>
  <cp:revision>3</cp:revision>
  <dcterms:created xsi:type="dcterms:W3CDTF">2026-04-27T03:38:11Z</dcterms:created>
  <dcterms:modified xsi:type="dcterms:W3CDTF">2026-05-07T21:53:17Z</dcterms:modified>
</cp:coreProperties>
</file>